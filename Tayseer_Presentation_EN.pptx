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12192000" cy="6858000"/>
  <p:notesSz cx="6858000" cy="9144000"/>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1"/>
        <c:ser>
          <c:idx val="0"/>
          <c:order val="0"/>
          <c:tx>
            <c:v>National adoption</c:v>
          </c:tx>
          <c:spPr>
            <a:ln w="38100">
              <a:solidFill>
                <a:srgbClr val="2E8B57"/>
              </a:solidFill>
            </a:ln>
          </c:spPr>
          <c:marker>
            <c:symbol val="none"/>
          </c:marker>
          <c:cat>
            <c:strRef>
              <c:f>'Chart Data'!$A$2:$A$49</c:f>
              <c:strCache>
                <c:ptCount val="48"/>
                <c:pt idx="0">
                  <c:v>2022-01</c:v>
                </c:pt>
                <c:pt idx="1">
                  <c:v>2022-02</c:v>
                </c:pt>
                <c:pt idx="2">
                  <c:v>2022-03</c:v>
                </c:pt>
                <c:pt idx="3">
                  <c:v>2022-04</c:v>
                </c:pt>
                <c:pt idx="4">
                  <c:v>2022-05</c:v>
                </c:pt>
                <c:pt idx="5">
                  <c:v>2022-06</c:v>
                </c:pt>
                <c:pt idx="6">
                  <c:v>2022-07</c:v>
                </c:pt>
                <c:pt idx="7">
                  <c:v>2022-08</c:v>
                </c:pt>
                <c:pt idx="8">
                  <c:v>2022-09</c:v>
                </c:pt>
                <c:pt idx="9">
                  <c:v>2022-10</c:v>
                </c:pt>
                <c:pt idx="10">
                  <c:v>2022-11</c:v>
                </c:pt>
                <c:pt idx="11">
                  <c:v>2022-12</c:v>
                </c:pt>
                <c:pt idx="12">
                  <c:v>2023-01</c:v>
                </c:pt>
                <c:pt idx="13">
                  <c:v>2023-02</c:v>
                </c:pt>
                <c:pt idx="14">
                  <c:v>2023-03</c:v>
                </c:pt>
                <c:pt idx="15">
                  <c:v>2023-04</c:v>
                </c:pt>
                <c:pt idx="16">
                  <c:v>2023-05</c:v>
                </c:pt>
                <c:pt idx="17">
                  <c:v>2023-06</c:v>
                </c:pt>
                <c:pt idx="18">
                  <c:v>2023-07</c:v>
                </c:pt>
                <c:pt idx="19">
                  <c:v>2023-08</c:v>
                </c:pt>
                <c:pt idx="20">
                  <c:v>2023-09</c:v>
                </c:pt>
                <c:pt idx="21">
                  <c:v>2023-10</c:v>
                </c:pt>
                <c:pt idx="22">
                  <c:v>2023-11</c:v>
                </c:pt>
                <c:pt idx="23">
                  <c:v>2023-12</c:v>
                </c:pt>
                <c:pt idx="24">
                  <c:v>2024-01</c:v>
                </c:pt>
                <c:pt idx="25">
                  <c:v>2024-02</c:v>
                </c:pt>
                <c:pt idx="26">
                  <c:v>2024-03</c:v>
                </c:pt>
                <c:pt idx="27">
                  <c:v>2024-04</c:v>
                </c:pt>
                <c:pt idx="28">
                  <c:v>2024-05</c:v>
                </c:pt>
                <c:pt idx="29">
                  <c:v>2024-06</c:v>
                </c:pt>
                <c:pt idx="30">
                  <c:v>2024-07</c:v>
                </c:pt>
                <c:pt idx="31">
                  <c:v>2024-08</c:v>
                </c:pt>
                <c:pt idx="32">
                  <c:v>2024-09</c:v>
                </c:pt>
                <c:pt idx="33">
                  <c:v>2024-10</c:v>
                </c:pt>
                <c:pt idx="34">
                  <c:v>2024-11</c:v>
                </c:pt>
                <c:pt idx="35">
                  <c:v>2024-12</c:v>
                </c:pt>
                <c:pt idx="36">
                  <c:v>2025-01</c:v>
                </c:pt>
                <c:pt idx="37">
                  <c:v>2025-02</c:v>
                </c:pt>
                <c:pt idx="38">
                  <c:v>2025-03</c:v>
                </c:pt>
                <c:pt idx="39">
                  <c:v>2025-04</c:v>
                </c:pt>
                <c:pt idx="40">
                  <c:v>2025-05</c:v>
                </c:pt>
                <c:pt idx="41">
                  <c:v>2025-06</c:v>
                </c:pt>
                <c:pt idx="42">
                  <c:v>2025-07</c:v>
                </c:pt>
                <c:pt idx="43">
                  <c:v>2025-08</c:v>
                </c:pt>
                <c:pt idx="44">
                  <c:v>2025-09</c:v>
                </c:pt>
                <c:pt idx="45">
                  <c:v>2025-10</c:v>
                </c:pt>
                <c:pt idx="46">
                  <c:v>2025-11</c:v>
                </c:pt>
                <c:pt idx="47">
                  <c:v>2025-12</c:v>
                </c:pt>
              </c:strCache>
            </c:strRef>
          </c:cat>
          <c:val>
            <c:numRef>
              <c:f>'Chart Data'!$B$2:$B$49</c:f>
              <c:numCache>
                <c:formatCode>0%</c:formatCode>
                <c:ptCount val="48"/>
                <c:pt idx="0">
                  <c:v>0.54142142250000003</c:v>
                </c:pt>
                <c:pt idx="1">
                  <c:v>0.54040536780000004</c:v>
                </c:pt>
                <c:pt idx="2">
                  <c:v>0.545522642</c:v>
                </c:pt>
                <c:pt idx="3">
                  <c:v>0.54726614890000003</c:v>
                </c:pt>
                <c:pt idx="4">
                  <c:v>0.55220753980000004</c:v>
                </c:pt>
                <c:pt idx="5">
                  <c:v>0.55201229709999999</c:v>
                </c:pt>
                <c:pt idx="6">
                  <c:v>0.55551535910000005</c:v>
                </c:pt>
                <c:pt idx="7">
                  <c:v>0.56079645489999996</c:v>
                </c:pt>
                <c:pt idx="8">
                  <c:v>0.55879379979999999</c:v>
                </c:pt>
                <c:pt idx="9">
                  <c:v>0.56453741639999999</c:v>
                </c:pt>
                <c:pt idx="10">
                  <c:v>0.56717849769999995</c:v>
                </c:pt>
                <c:pt idx="11">
                  <c:v>0.56596575169999996</c:v>
                </c:pt>
                <c:pt idx="12">
                  <c:v>0.57018818689999995</c:v>
                </c:pt>
                <c:pt idx="13">
                  <c:v>0.57428022440000004</c:v>
                </c:pt>
                <c:pt idx="14">
                  <c:v>0.57468664120000001</c:v>
                </c:pt>
                <c:pt idx="15">
                  <c:v>0.58006696390000001</c:v>
                </c:pt>
                <c:pt idx="16">
                  <c:v>0.58439342260000005</c:v>
                </c:pt>
                <c:pt idx="17">
                  <c:v>0.58377180009999996</c:v>
                </c:pt>
                <c:pt idx="18">
                  <c:v>0.58893713160000005</c:v>
                </c:pt>
                <c:pt idx="19">
                  <c:v>0.59020494580000005</c:v>
                </c:pt>
                <c:pt idx="20">
                  <c:v>0.59234547920000002</c:v>
                </c:pt>
                <c:pt idx="21">
                  <c:v>0.5924688857</c:v>
                </c:pt>
                <c:pt idx="22">
                  <c:v>0.59579427929999995</c:v>
                </c:pt>
                <c:pt idx="23">
                  <c:v>0.59851920660000002</c:v>
                </c:pt>
                <c:pt idx="24">
                  <c:v>0.60377393270000002</c:v>
                </c:pt>
                <c:pt idx="25">
                  <c:v>0.60546205340000003</c:v>
                </c:pt>
                <c:pt idx="26">
                  <c:v>0.60774955360000005</c:v>
                </c:pt>
                <c:pt idx="27">
                  <c:v>0.6085018807</c:v>
                </c:pt>
                <c:pt idx="28">
                  <c:v>0.61351362899999995</c:v>
                </c:pt>
                <c:pt idx="29">
                  <c:v>0.6152378906</c:v>
                </c:pt>
                <c:pt idx="30">
                  <c:v>0.62013955070000004</c:v>
                </c:pt>
                <c:pt idx="31">
                  <c:v>0.61827228270000001</c:v>
                </c:pt>
                <c:pt idx="32">
                  <c:v>0.6257629924</c:v>
                </c:pt>
                <c:pt idx="33">
                  <c:v>0.62789360270000005</c:v>
                </c:pt>
                <c:pt idx="34">
                  <c:v>0.62785536279999998</c:v>
                </c:pt>
                <c:pt idx="35">
                  <c:v>0.63258120380000005</c:v>
                </c:pt>
                <c:pt idx="36">
                  <c:v>0.63418739999999996</c:v>
                </c:pt>
                <c:pt idx="37">
                  <c:v>0.63783444160000002</c:v>
                </c:pt>
                <c:pt idx="38">
                  <c:v>0.63657799390000003</c:v>
                </c:pt>
                <c:pt idx="39">
                  <c:v>0.64064106229999995</c:v>
                </c:pt>
                <c:pt idx="40">
                  <c:v>0.64189450059999997</c:v>
                </c:pt>
                <c:pt idx="41">
                  <c:v>0.64597510970000005</c:v>
                </c:pt>
                <c:pt idx="42">
                  <c:v>0.64976442099999998</c:v>
                </c:pt>
                <c:pt idx="43">
                  <c:v>0.65204517689999997</c:v>
                </c:pt>
                <c:pt idx="44">
                  <c:v>0.65509905899999998</c:v>
                </c:pt>
                <c:pt idx="45">
                  <c:v>0.65695992540000003</c:v>
                </c:pt>
                <c:pt idx="46">
                  <c:v>0.65978694390000003</c:v>
                </c:pt>
                <c:pt idx="47">
                  <c:v>0.6621076132</c:v>
                </c:pt>
              </c:numCache>
            </c:numRef>
          </c:val>
          <c:smooth val="1"/>
          <c:extLst>
            <c:ext xmlns:c16="http://schemas.microsoft.com/office/drawing/2014/chart" uri="{C3380CC4-5D6E-409C-BE32-E72D297353CC}">
              <c16:uniqueId val="{00000000-2CF3-A148-AFEA-EAC4DFD7B263}"/>
            </c:ext>
          </c:extLst>
        </c:ser>
        <c:ser>
          <c:idx val="1"/>
          <c:order val="1"/>
          <c:tx>
            <c:v>65% target</c:v>
          </c:tx>
          <c:spPr>
            <a:ln w="22225">
              <a:solidFill>
                <a:srgbClr val="D9534F"/>
              </a:solidFill>
              <a:prstDash val="dash"/>
            </a:ln>
          </c:spPr>
          <c:marker>
            <c:symbol val="none"/>
          </c:marker>
          <c:dLbls>
            <c:dLbl>
              <c:idx val="12"/>
              <c:tx>
                <c:rich>
                  <a:bodyPr wrap="none" anchor="ctr" anchorCtr="1">
                    <a:spAutoFit/>
                  </a:bodyPr>
                  <a:lstStyle/>
                  <a:p>
                    <a:pPr>
                      <a:defRPr lang="en-US" sz="1400" b="1">
                        <a:solidFill>
                          <a:srgbClr val="D9534F"/>
                        </a:solidFill>
                        <a:latin typeface="Arial"/>
                        <a:ea typeface="Arial"/>
                        <a:cs typeface="Arial"/>
                      </a:defRPr>
                    </a:pPr>
                    <a:r>
                      <a:rPr lang="en-US" sz="1400" b="1">
                        <a:solidFill>
                          <a:srgbClr val="D9534F"/>
                        </a:solidFill>
                        <a:latin typeface="Arial"/>
                        <a:ea typeface="Arial"/>
                        <a:cs typeface="Arial"/>
                      </a:rPr>
                      <a:t>This is the target 65%</a:t>
                    </a:r>
                  </a:p>
                </c:rich>
              </c:tx>
              <c:spPr>
                <a:noFill/>
                <a:ln>
                  <a:no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0-AB20-42B2-8BC1-BFD0633383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'Chart Data'!$C$2:$C$49</c:f>
              <c:strCache>
                <c:ptCount val="48"/>
                <c:pt idx="0">
                  <c:v>2022-01</c:v>
                </c:pt>
                <c:pt idx="1">
                  <c:v>2022-02</c:v>
                </c:pt>
                <c:pt idx="2">
                  <c:v>2022-03</c:v>
                </c:pt>
                <c:pt idx="3">
                  <c:v>2022-04</c:v>
                </c:pt>
                <c:pt idx="4">
                  <c:v>2022-05</c:v>
                </c:pt>
                <c:pt idx="5">
                  <c:v>2022-06</c:v>
                </c:pt>
                <c:pt idx="6">
                  <c:v>2022-07</c:v>
                </c:pt>
                <c:pt idx="7">
                  <c:v>2022-08</c:v>
                </c:pt>
                <c:pt idx="8">
                  <c:v>2022-09</c:v>
                </c:pt>
                <c:pt idx="9">
                  <c:v>2022-10</c:v>
                </c:pt>
                <c:pt idx="10">
                  <c:v>2022-11</c:v>
                </c:pt>
                <c:pt idx="11">
                  <c:v>2022-12</c:v>
                </c:pt>
                <c:pt idx="12">
                  <c:v>2023-01</c:v>
                </c:pt>
                <c:pt idx="13">
                  <c:v>2023-02</c:v>
                </c:pt>
                <c:pt idx="14">
                  <c:v>2023-03</c:v>
                </c:pt>
                <c:pt idx="15">
                  <c:v>2023-04</c:v>
                </c:pt>
                <c:pt idx="16">
                  <c:v>2023-05</c:v>
                </c:pt>
                <c:pt idx="17">
                  <c:v>2023-06</c:v>
                </c:pt>
                <c:pt idx="18">
                  <c:v>2023-07</c:v>
                </c:pt>
                <c:pt idx="19">
                  <c:v>2023-08</c:v>
                </c:pt>
                <c:pt idx="20">
                  <c:v>2023-09</c:v>
                </c:pt>
                <c:pt idx="21">
                  <c:v>2023-10</c:v>
                </c:pt>
                <c:pt idx="22">
                  <c:v>2023-11</c:v>
                </c:pt>
                <c:pt idx="23">
                  <c:v>2023-12</c:v>
                </c:pt>
                <c:pt idx="24">
                  <c:v>2024-01</c:v>
                </c:pt>
                <c:pt idx="25">
                  <c:v>2024-02</c:v>
                </c:pt>
                <c:pt idx="26">
                  <c:v>2024-03</c:v>
                </c:pt>
                <c:pt idx="27">
                  <c:v>2024-04</c:v>
                </c:pt>
                <c:pt idx="28">
                  <c:v>2024-05</c:v>
                </c:pt>
                <c:pt idx="29">
                  <c:v>2024-06</c:v>
                </c:pt>
                <c:pt idx="30">
                  <c:v>2024-07</c:v>
                </c:pt>
                <c:pt idx="31">
                  <c:v>2024-08</c:v>
                </c:pt>
                <c:pt idx="32">
                  <c:v>2024-09</c:v>
                </c:pt>
                <c:pt idx="33">
                  <c:v>2024-10</c:v>
                </c:pt>
                <c:pt idx="34">
                  <c:v>2024-11</c:v>
                </c:pt>
                <c:pt idx="35">
                  <c:v>2024-12</c:v>
                </c:pt>
                <c:pt idx="36">
                  <c:v>2025-01</c:v>
                </c:pt>
                <c:pt idx="37">
                  <c:v>2025-02</c:v>
                </c:pt>
                <c:pt idx="38">
                  <c:v>2025-03</c:v>
                </c:pt>
                <c:pt idx="39">
                  <c:v>2025-04</c:v>
                </c:pt>
                <c:pt idx="40">
                  <c:v>2025-05</c:v>
                </c:pt>
                <c:pt idx="41">
                  <c:v>2025-06</c:v>
                </c:pt>
                <c:pt idx="42">
                  <c:v>2025-07</c:v>
                </c:pt>
                <c:pt idx="43">
                  <c:v>2025-08</c:v>
                </c:pt>
                <c:pt idx="44">
                  <c:v>2025-09</c:v>
                </c:pt>
                <c:pt idx="45">
                  <c:v>2025-10</c:v>
                </c:pt>
                <c:pt idx="46">
                  <c:v>2025-11</c:v>
                </c:pt>
                <c:pt idx="47">
                  <c:v>2025-12</c:v>
                </c:pt>
              </c:strCache>
            </c:strRef>
          </c:cat>
          <c:val>
            <c:numRef>
              <c:f>'Chart Data'!$D$2:$D$49</c:f>
              <c:numCache>
                <c:formatCode>0%</c:formatCode>
                <c:ptCount val="48"/>
                <c:pt idx="0">
                  <c:v>0.65</c:v>
                </c:pt>
                <c:pt idx="1">
                  <c:v>0.65</c:v>
                </c:pt>
                <c:pt idx="2">
                  <c:v>0.65</c:v>
                </c:pt>
                <c:pt idx="3">
                  <c:v>0.65</c:v>
                </c:pt>
                <c:pt idx="4">
                  <c:v>0.65</c:v>
                </c:pt>
                <c:pt idx="5">
                  <c:v>0.65</c:v>
                </c:pt>
                <c:pt idx="6">
                  <c:v>0.65</c:v>
                </c:pt>
                <c:pt idx="7">
                  <c:v>0.65</c:v>
                </c:pt>
                <c:pt idx="8">
                  <c:v>0.65</c:v>
                </c:pt>
                <c:pt idx="9">
                  <c:v>0.65</c:v>
                </c:pt>
                <c:pt idx="10">
                  <c:v>0.65</c:v>
                </c:pt>
                <c:pt idx="11">
                  <c:v>0.65</c:v>
                </c:pt>
                <c:pt idx="12">
                  <c:v>0.65</c:v>
                </c:pt>
                <c:pt idx="13">
                  <c:v>0.65</c:v>
                </c:pt>
                <c:pt idx="14">
                  <c:v>0.65</c:v>
                </c:pt>
                <c:pt idx="15">
                  <c:v>0.65</c:v>
                </c:pt>
                <c:pt idx="16">
                  <c:v>0.65</c:v>
                </c:pt>
                <c:pt idx="17">
                  <c:v>0.65</c:v>
                </c:pt>
                <c:pt idx="18">
                  <c:v>0.65</c:v>
                </c:pt>
                <c:pt idx="19">
                  <c:v>0.65</c:v>
                </c:pt>
                <c:pt idx="20">
                  <c:v>0.65</c:v>
                </c:pt>
                <c:pt idx="21">
                  <c:v>0.65</c:v>
                </c:pt>
                <c:pt idx="22">
                  <c:v>0.65</c:v>
                </c:pt>
                <c:pt idx="23">
                  <c:v>0.65</c:v>
                </c:pt>
                <c:pt idx="24">
                  <c:v>0.65</c:v>
                </c:pt>
                <c:pt idx="25">
                  <c:v>0.65</c:v>
                </c:pt>
                <c:pt idx="26">
                  <c:v>0.65</c:v>
                </c:pt>
                <c:pt idx="27">
                  <c:v>0.65</c:v>
                </c:pt>
                <c:pt idx="28">
                  <c:v>0.65</c:v>
                </c:pt>
                <c:pt idx="29">
                  <c:v>0.65</c:v>
                </c:pt>
                <c:pt idx="30">
                  <c:v>0.65</c:v>
                </c:pt>
                <c:pt idx="31">
                  <c:v>0.65</c:v>
                </c:pt>
                <c:pt idx="32">
                  <c:v>0.65</c:v>
                </c:pt>
                <c:pt idx="33">
                  <c:v>0.65</c:v>
                </c:pt>
                <c:pt idx="34">
                  <c:v>0.65</c:v>
                </c:pt>
                <c:pt idx="35">
                  <c:v>0.65</c:v>
                </c:pt>
                <c:pt idx="36">
                  <c:v>0.65</c:v>
                </c:pt>
                <c:pt idx="37">
                  <c:v>0.65</c:v>
                </c:pt>
                <c:pt idx="38">
                  <c:v>0.65</c:v>
                </c:pt>
                <c:pt idx="39">
                  <c:v>0.65</c:v>
                </c:pt>
                <c:pt idx="40">
                  <c:v>0.65</c:v>
                </c:pt>
                <c:pt idx="41">
                  <c:v>0.65</c:v>
                </c:pt>
                <c:pt idx="42">
                  <c:v>0.65</c:v>
                </c:pt>
                <c:pt idx="43">
                  <c:v>0.65</c:v>
                </c:pt>
                <c:pt idx="44">
                  <c:v>0.65</c:v>
                </c:pt>
                <c:pt idx="45">
                  <c:v>0.65</c:v>
                </c:pt>
                <c:pt idx="46">
                  <c:v>0.65</c:v>
                </c:pt>
                <c:pt idx="47">
                  <c:v>0.65</c:v>
                </c:pt>
              </c:numCache>
            </c:numRef>
          </c:val>
          <c:smooth val="1"/>
          <c:extLst>
            <c:ext xmlns:c16="http://schemas.microsoft.com/office/drawing/2014/chart" uri="{C3380CC4-5D6E-409C-BE32-E72D297353CC}">
              <c16:uniqueId val="{00000001-2CF3-A148-AFEA-EAC4DFD7B263}"/>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CE1E8"/>
            </a:solidFill>
          </a:ln>
        </c:spPr>
        <c:txPr>
          <a:bodyPr anchorCtr="1"/>
          <a:lstStyle/>
          <a:p>
            <a:pPr rtl="0">
              <a:defRPr lang="en-US" sz="1200">
                <a:solidFill>
                  <a:srgbClr val="637080"/>
                </a:solidFill>
                <a:latin typeface="Arial"/>
                <a:ea typeface="Arial"/>
                <a:cs typeface="Arial"/>
              </a:defRPr>
            </a:pPr>
            <a:endParaRPr lang="en-SA"/>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1E8"/>
              </a:solidFill>
            </a:ln>
          </c:spPr>
        </c:majorGridlines>
        <c:numFmt formatCode="0%" sourceLinked="1"/>
        <c:majorTickMark val="none"/>
        <c:minorTickMark val="none"/>
        <c:tickLblPos val="nextTo"/>
        <c:spPr>
          <a:ln w="9525">
            <a:solidFill>
              <a:srgbClr val="D4D4D4"/>
            </a:solidFill>
            <a:prstDash val="solid"/>
          </a:ln>
        </c:spPr>
        <c:txPr>
          <a:bodyPr anchorCtr="1"/>
          <a:lstStyle/>
          <a:p>
            <a:pPr rtl="0">
              <a:defRPr lang="en-US" sz="1650">
                <a:solidFill>
                  <a:srgbClr val="637080"/>
                </a:solidFill>
                <a:latin typeface="Arial"/>
                <a:ea typeface="Arial"/>
                <a:cs typeface="Arial"/>
              </a:defRPr>
            </a:pPr>
            <a:endParaRPr lang="en-SA"/>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1"/>
          <c:order val="0"/>
          <c:tx>
            <c:v>Adoption</c:v>
          </c:tx>
          <c:spPr>
            <a:solidFill>
              <a:srgbClr val="2E8B57"/>
            </a:solidFill>
          </c:spPr>
          <c:invertIfNegative val="1"/>
          <c:dPt>
            <c:idx val="0"/>
            <c:invertIfNegative val="0"/>
            <c:bubble3D val="0"/>
            <c:extLst>
              <c:ext xmlns:c16="http://schemas.microsoft.com/office/drawing/2014/chart" uri="{C3380CC4-5D6E-409C-BE32-E72D297353CC}">
                <c16:uniqueId val="{00000002-30B1-5145-A36A-49C7BB4D9EC1}"/>
              </c:ext>
            </c:extLst>
          </c:dPt>
          <c:dPt>
            <c:idx val="1"/>
            <c:invertIfNegative val="0"/>
            <c:bubble3D val="0"/>
            <c:extLst>
              <c:ext xmlns:c16="http://schemas.microsoft.com/office/drawing/2014/chart" uri="{C3380CC4-5D6E-409C-BE32-E72D297353CC}">
                <c16:uniqueId val="{00000004-30B1-5145-A36A-49C7BB4D9EC1}"/>
              </c:ext>
            </c:extLst>
          </c:dPt>
          <c:dPt>
            <c:idx val="2"/>
            <c:invertIfNegative val="0"/>
            <c:bubble3D val="0"/>
            <c:extLst>
              <c:ext xmlns:c16="http://schemas.microsoft.com/office/drawing/2014/chart" uri="{C3380CC4-5D6E-409C-BE32-E72D297353CC}">
                <c16:uniqueId val="{00000006-30B1-5145-A36A-49C7BB4D9EC1}"/>
              </c:ext>
            </c:extLst>
          </c:dPt>
          <c:dPt>
            <c:idx val="3"/>
            <c:invertIfNegative val="0"/>
            <c:bubble3D val="0"/>
            <c:extLst>
              <c:ext xmlns:c16="http://schemas.microsoft.com/office/drawing/2014/chart" uri="{C3380CC4-5D6E-409C-BE32-E72D297353CC}">
                <c16:uniqueId val="{00000008-30B1-5145-A36A-49C7BB4D9EC1}"/>
              </c:ext>
            </c:extLst>
          </c:dPt>
          <c:dPt>
            <c:idx val="4"/>
            <c:invertIfNegative val="0"/>
            <c:bubble3D val="0"/>
            <c:extLst>
              <c:ext xmlns:c16="http://schemas.microsoft.com/office/drawing/2014/chart" uri="{C3380CC4-5D6E-409C-BE32-E72D297353CC}">
                <c16:uniqueId val="{0000000A-30B1-5145-A36A-49C7BB4D9EC1}"/>
              </c:ext>
            </c:extLst>
          </c:dPt>
          <c:dPt>
            <c:idx val="5"/>
            <c:invertIfNegative val="0"/>
            <c:bubble3D val="0"/>
            <c:spPr>
              <a:solidFill>
                <a:srgbClr val="D9534F"/>
              </a:solidFill>
            </c:spPr>
            <c:extLst>
              <c:ext xmlns:c16="http://schemas.microsoft.com/office/drawing/2014/chart" uri="{C3380CC4-5D6E-409C-BE32-E72D297353CC}">
                <c16:uniqueId val="{0000000C-30B1-5145-A36A-49C7BB4D9EC1}"/>
              </c:ext>
            </c:extLst>
          </c:dPt>
          <c:dPt>
            <c:idx val="6"/>
            <c:invertIfNegative val="0"/>
            <c:bubble3D val="0"/>
            <c:spPr>
              <a:solidFill>
                <a:srgbClr val="D9534F"/>
              </a:solidFill>
            </c:spPr>
            <c:extLst>
              <c:ext xmlns:c16="http://schemas.microsoft.com/office/drawing/2014/chart" uri="{C3380CC4-5D6E-409C-BE32-E72D297353CC}">
                <c16:uniqueId val="{0000000E-30B1-5145-A36A-49C7BB4D9EC1}"/>
              </c:ext>
            </c:extLst>
          </c:dPt>
          <c:dPt>
            <c:idx val="7"/>
            <c:invertIfNegative val="0"/>
            <c:bubble3D val="0"/>
            <c:spPr>
              <a:solidFill>
                <a:srgbClr val="D9534F"/>
              </a:solidFill>
            </c:spPr>
            <c:extLst>
              <c:ext xmlns:c16="http://schemas.microsoft.com/office/drawing/2014/chart" uri="{C3380CC4-5D6E-409C-BE32-E72D297353CC}">
                <c16:uniqueId val="{00000010-30B1-5145-A36A-49C7BB4D9EC1}"/>
              </c:ext>
            </c:extLst>
          </c:dPt>
          <c:dPt>
            <c:idx val="8"/>
            <c:invertIfNegative val="0"/>
            <c:bubble3D val="0"/>
            <c:spPr>
              <a:solidFill>
                <a:srgbClr val="D9534F"/>
              </a:solidFill>
            </c:spPr>
            <c:extLst>
              <c:ext xmlns:c16="http://schemas.microsoft.com/office/drawing/2014/chart" uri="{C3380CC4-5D6E-409C-BE32-E72D297353CC}">
                <c16:uniqueId val="{00000012-30B1-5145-A36A-49C7BB4D9EC1}"/>
              </c:ext>
            </c:extLst>
          </c:dPt>
          <c:dPt>
            <c:idx val="9"/>
            <c:invertIfNegative val="0"/>
            <c:bubble3D val="0"/>
            <c:spPr>
              <a:solidFill>
                <a:srgbClr val="D9534F"/>
              </a:solidFill>
            </c:spPr>
            <c:extLst>
              <c:ext xmlns:c16="http://schemas.microsoft.com/office/drawing/2014/chart" uri="{C3380CC4-5D6E-409C-BE32-E72D297353CC}">
                <c16:uniqueId val="{00000014-30B1-5145-A36A-49C7BB4D9EC1}"/>
              </c:ext>
            </c:extLst>
          </c:dPt>
          <c:dPt>
            <c:idx val="10"/>
            <c:invertIfNegative val="0"/>
            <c:bubble3D val="0"/>
            <c:spPr>
              <a:solidFill>
                <a:srgbClr val="D9534F"/>
              </a:solidFill>
            </c:spPr>
            <c:extLst>
              <c:ext xmlns:c16="http://schemas.microsoft.com/office/drawing/2014/chart" uri="{C3380CC4-5D6E-409C-BE32-E72D297353CC}">
                <c16:uniqueId val="{00000016-30B1-5145-A36A-49C7BB4D9EC1}"/>
              </c:ext>
            </c:extLst>
          </c:dPt>
          <c:dPt>
            <c:idx val="11"/>
            <c:invertIfNegative val="0"/>
            <c:bubble3D val="0"/>
            <c:spPr>
              <a:solidFill>
                <a:srgbClr val="D9534F"/>
              </a:solidFill>
            </c:spPr>
            <c:extLst>
              <c:ext xmlns:c16="http://schemas.microsoft.com/office/drawing/2014/chart" uri="{C3380CC4-5D6E-409C-BE32-E72D297353CC}">
                <c16:uniqueId val="{00000018-30B1-5145-A36A-49C7BB4D9EC1}"/>
              </c:ext>
            </c:extLst>
          </c:dPt>
          <c:dPt>
            <c:idx val="12"/>
            <c:invertIfNegative val="0"/>
            <c:bubble3D val="0"/>
            <c:spPr>
              <a:solidFill>
                <a:srgbClr val="D9534F"/>
              </a:solidFill>
            </c:spPr>
            <c:extLst>
              <c:ext xmlns:c16="http://schemas.microsoft.com/office/drawing/2014/chart" uri="{C3380CC4-5D6E-409C-BE32-E72D297353CC}">
                <c16:uniqueId val="{0000001A-30B1-5145-A36A-49C7BB4D9EC1}"/>
              </c:ext>
            </c:extLst>
          </c:dPt>
          <c:dLbls>
            <c:spPr>
              <a:noFill/>
              <a:ln>
                <a:noFill/>
              </a:ln>
              <a:effectLst/>
            </c:spPr>
            <c:txPr>
              <a:bodyPr anchorCtr="1"/>
              <a:lstStyle/>
              <a:p>
                <a:pPr rtl="0">
                  <a:defRPr lang="en-US" sz="1575" b="1">
                    <a:solidFill>
                      <a:srgbClr val="FFFFFF"/>
                    </a:solidFill>
                    <a:latin typeface="Arial"/>
                    <a:ea typeface="Arial"/>
                    <a:cs typeface="Arial"/>
                  </a:defRPr>
                </a:pPr>
                <a:endParaRPr lang="en-S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Data'!$C$2:$C$14</c:f>
              <c:strCache>
                <c:ptCount val="13"/>
                <c:pt idx="0">
                  <c:v>Riyadh</c:v>
                </c:pt>
                <c:pt idx="1">
                  <c:v>Makkah</c:v>
                </c:pt>
                <c:pt idx="2">
                  <c:v>Eastern Province</c:v>
                </c:pt>
                <c:pt idx="3">
                  <c:v>Madinah</c:v>
                </c:pt>
                <c:pt idx="4">
                  <c:v>Qassim</c:v>
                </c:pt>
                <c:pt idx="5">
                  <c:v>Al-Jouf</c:v>
                </c:pt>
                <c:pt idx="6">
                  <c:v>Hail</c:v>
                </c:pt>
                <c:pt idx="7">
                  <c:v>Tabuk</c:v>
                </c:pt>
                <c:pt idx="8">
                  <c:v>Asir</c:v>
                </c:pt>
                <c:pt idx="9">
                  <c:v>Jazan</c:v>
                </c:pt>
                <c:pt idx="10">
                  <c:v>Al-Baha</c:v>
                </c:pt>
                <c:pt idx="11">
                  <c:v>Northern Borders</c:v>
                </c:pt>
                <c:pt idx="12">
                  <c:v>Najran</c:v>
                </c:pt>
              </c:strCache>
            </c:strRef>
          </c:cat>
          <c:val>
            <c:numRef>
              <c:f>'Chart Data'!$D$2:$D$14</c:f>
              <c:numCache>
                <c:formatCode>0.0%</c:formatCode>
                <c:ptCount val="13"/>
                <c:pt idx="0">
                  <c:v>0.70750771879999996</c:v>
                </c:pt>
                <c:pt idx="1">
                  <c:v>0.70697932320000001</c:v>
                </c:pt>
                <c:pt idx="2">
                  <c:v>0.68702701389999998</c:v>
                </c:pt>
                <c:pt idx="3">
                  <c:v>0.6823243953</c:v>
                </c:pt>
                <c:pt idx="4">
                  <c:v>0.66105987180000003</c:v>
                </c:pt>
                <c:pt idx="5">
                  <c:v>0.64821701379999996</c:v>
                </c:pt>
                <c:pt idx="6">
                  <c:v>0.64742108389999997</c:v>
                </c:pt>
                <c:pt idx="7">
                  <c:v>0.64484608889999995</c:v>
                </c:pt>
                <c:pt idx="8">
                  <c:v>0.64357850319999999</c:v>
                </c:pt>
                <c:pt idx="9">
                  <c:v>0.63028711589999997</c:v>
                </c:pt>
                <c:pt idx="10">
                  <c:v>0.62781317859999997</c:v>
                </c:pt>
                <c:pt idx="11">
                  <c:v>0.62700224069999999</c:v>
                </c:pt>
                <c:pt idx="12">
                  <c:v>0.6086371934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B-30B1-5145-A36A-49C7BB4D9EC1}"/>
            </c:ext>
          </c:extLst>
        </c:ser>
        <c:ser>
          <c:idx val="0"/>
          <c:order val="1"/>
          <c:tx>
            <c:v>65% target</c:v>
          </c:tx>
          <c:spPr>
            <a:noFill/>
            <a:ln w="25400">
              <a:solidFill>
                <a:srgbClr val="1E2B53"/>
              </a:solidFill>
              <a:prstDash val="dash"/>
            </a:ln>
          </c:spPr>
          <c:invertIfNegative val="1"/>
          <c:dLbls>
            <c:spPr>
              <a:noFill/>
              <a:ln>
                <a:noFill/>
              </a:ln>
              <a:effectLst/>
            </c:spPr>
            <c:showLegendKey val="1"/>
            <c:showVal val="0"/>
            <c:showCatName val="0"/>
            <c:showSerName val="0"/>
            <c:showPercent val="1"/>
            <c:showBubbleSize val="1"/>
            <c:showLeaderLines val="0"/>
            <c:extLst>
              <c:ext xmlns:c15="http://schemas.microsoft.com/office/drawing/2012/chart" uri="{CE6537A1-D6FC-4f65-9D91-7224C49458BB}">
                <c15:showLeaderLines val="0"/>
              </c:ext>
            </c:extLst>
          </c:dLbls>
          <c:cat>
            <c:strRef>
              <c:f>'Chart Data'!$A$2:$A$14</c:f>
              <c:strCache>
                <c:ptCount val="13"/>
                <c:pt idx="0">
                  <c:v>Riyadh</c:v>
                </c:pt>
                <c:pt idx="1">
                  <c:v>Makkah</c:v>
                </c:pt>
                <c:pt idx="2">
                  <c:v>Eastern Province</c:v>
                </c:pt>
                <c:pt idx="3">
                  <c:v>Madinah</c:v>
                </c:pt>
                <c:pt idx="4">
                  <c:v>Qassim</c:v>
                </c:pt>
                <c:pt idx="5">
                  <c:v>Al-Jouf</c:v>
                </c:pt>
                <c:pt idx="6">
                  <c:v>Hail</c:v>
                </c:pt>
                <c:pt idx="7">
                  <c:v>Tabuk</c:v>
                </c:pt>
                <c:pt idx="8">
                  <c:v>Asir</c:v>
                </c:pt>
                <c:pt idx="9">
                  <c:v>Jazan</c:v>
                </c:pt>
                <c:pt idx="10">
                  <c:v>Al-Baha</c:v>
                </c:pt>
                <c:pt idx="11">
                  <c:v>Northern Borders</c:v>
                </c:pt>
                <c:pt idx="12">
                  <c:v>Najran</c:v>
                </c:pt>
              </c:strCache>
            </c:strRef>
          </c:cat>
          <c:val>
            <c:numRef>
              <c:f>'Chart Data'!$B$2:$B$14</c:f>
              <c:numCache>
                <c:formatCode>0%</c:formatCode>
                <c:ptCount val="13"/>
                <c:pt idx="0">
                  <c:v>0.65</c:v>
                </c:pt>
                <c:pt idx="1">
                  <c:v>0.65</c:v>
                </c:pt>
                <c:pt idx="2">
                  <c:v>0.65</c:v>
                </c:pt>
                <c:pt idx="3">
                  <c:v>0.65</c:v>
                </c:pt>
                <c:pt idx="4">
                  <c:v>0.65</c:v>
                </c:pt>
                <c:pt idx="5">
                  <c:v>0.65</c:v>
                </c:pt>
                <c:pt idx="6">
                  <c:v>0.65</c:v>
                </c:pt>
                <c:pt idx="7">
                  <c:v>0.65</c:v>
                </c:pt>
                <c:pt idx="8">
                  <c:v>0.65</c:v>
                </c:pt>
                <c:pt idx="9">
                  <c:v>0.65</c:v>
                </c:pt>
                <c:pt idx="10">
                  <c:v>0.65</c:v>
                </c:pt>
                <c:pt idx="11">
                  <c:v>0.65</c:v>
                </c:pt>
                <c:pt idx="12">
                  <c:v>0.65</c:v>
                </c:pt>
              </c:numCache>
            </c:numRef>
          </c:val>
          <c:extLst>
            <c:ext xmlns:c16="http://schemas.microsoft.com/office/drawing/2014/chart" uri="{C3380CC4-5D6E-409C-BE32-E72D297353CC}">
              <c16:uniqueId val="{00000000-30B1-5145-A36A-49C7BB4D9EC1}"/>
            </c:ext>
          </c:extLst>
        </c:ser>
        <c:dLbls>
          <c:dLblPos val="inEnd"/>
          <c:showLegendKey val="0"/>
          <c:showVal val="1"/>
          <c:showCatName val="0"/>
          <c:showSerName val="0"/>
          <c:showPercent val="0"/>
          <c:showBubbleSize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rtl="0">
              <a:defRPr lang="en-US" sz="1650">
                <a:solidFill>
                  <a:srgbClr val="1E2B53"/>
                </a:solidFill>
                <a:latin typeface="Arial"/>
                <a:ea typeface="Arial"/>
                <a:cs typeface="Arial"/>
              </a:defRPr>
            </a:pPr>
            <a:endParaRPr lang="en-SA"/>
          </a:p>
        </c:txPr>
        <c:crossAx val="48672768"/>
        <c:crosses val="autoZero"/>
        <c:auto val="1"/>
        <c:lblAlgn val="ctr"/>
        <c:lblOffset val="100"/>
        <c:noMultiLvlLbl val="1"/>
      </c:catAx>
      <c:valAx>
        <c:axId val="48672768"/>
        <c:scaling>
          <c:orientation val="minMax"/>
          <c:max val="0.8"/>
          <c:min val="0"/>
        </c:scaling>
        <c:delete val="0"/>
        <c:axPos val="b"/>
        <c:majorGridlines>
          <c:spPr>
            <a:ln w="9525">
              <a:solidFill>
                <a:srgbClr val="DCE1E8"/>
              </a:solidFill>
            </a:ln>
          </c:spPr>
        </c:majorGridlines>
        <c:numFmt formatCode="0.0%" sourceLinked="1"/>
        <c:majorTickMark val="none"/>
        <c:minorTickMark val="none"/>
        <c:tickLblPos val="nextTo"/>
        <c:spPr>
          <a:ln w="9525">
            <a:solidFill>
              <a:srgbClr val="D4D4D4"/>
            </a:solidFill>
            <a:prstDash val="solid"/>
          </a:ln>
        </c:spPr>
        <c:txPr>
          <a:bodyPr anchorCtr="1"/>
          <a:lstStyle/>
          <a:p>
            <a:pPr rtl="0">
              <a:defRPr lang="en-US" sz="1350">
                <a:solidFill>
                  <a:srgbClr val="637080"/>
                </a:solidFill>
                <a:latin typeface="Arial"/>
                <a:ea typeface="Arial"/>
                <a:cs typeface="Arial"/>
              </a:defRPr>
            </a:pPr>
            <a:endParaRPr lang="en-SA"/>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v>Gap share</c:v>
          </c:tx>
          <c:spPr>
            <a:solidFill>
              <a:srgbClr val="C9CFD6"/>
            </a:solidFill>
          </c:spPr>
          <c:invertIfNegative val="1"/>
          <c:dPt>
            <c:idx val="0"/>
            <c:invertIfNegative val="0"/>
            <c:bubble3D val="0"/>
            <c:extLst>
              <c:ext xmlns:c16="http://schemas.microsoft.com/office/drawing/2014/chart" uri="{C3380CC4-5D6E-409C-BE32-E72D297353CC}">
                <c16:uniqueId val="{00000001-2780-1A47-A55A-8B9209331C2F}"/>
              </c:ext>
            </c:extLst>
          </c:dPt>
          <c:dPt>
            <c:idx val="1"/>
            <c:invertIfNegative val="0"/>
            <c:bubble3D val="0"/>
            <c:extLst>
              <c:ext xmlns:c16="http://schemas.microsoft.com/office/drawing/2014/chart" uri="{C3380CC4-5D6E-409C-BE32-E72D297353CC}">
                <c16:uniqueId val="{00000003-2780-1A47-A55A-8B9209331C2F}"/>
              </c:ext>
            </c:extLst>
          </c:dPt>
          <c:dPt>
            <c:idx val="2"/>
            <c:invertIfNegative val="0"/>
            <c:bubble3D val="0"/>
            <c:extLst>
              <c:ext xmlns:c16="http://schemas.microsoft.com/office/drawing/2014/chart" uri="{C3380CC4-5D6E-409C-BE32-E72D297353CC}">
                <c16:uniqueId val="{00000005-2780-1A47-A55A-8B9209331C2F}"/>
              </c:ext>
            </c:extLst>
          </c:dPt>
          <c:dPt>
            <c:idx val="3"/>
            <c:invertIfNegative val="0"/>
            <c:bubble3D val="0"/>
            <c:extLst>
              <c:ext xmlns:c16="http://schemas.microsoft.com/office/drawing/2014/chart" uri="{C3380CC4-5D6E-409C-BE32-E72D297353CC}">
                <c16:uniqueId val="{00000007-2780-1A47-A55A-8B9209331C2F}"/>
              </c:ext>
            </c:extLst>
          </c:dPt>
          <c:dPt>
            <c:idx val="4"/>
            <c:invertIfNegative val="0"/>
            <c:bubble3D val="0"/>
            <c:extLst>
              <c:ext xmlns:c16="http://schemas.microsoft.com/office/drawing/2014/chart" uri="{C3380CC4-5D6E-409C-BE32-E72D297353CC}">
                <c16:uniqueId val="{00000009-2780-1A47-A55A-8B9209331C2F}"/>
              </c:ext>
            </c:extLst>
          </c:dPt>
          <c:dPt>
            <c:idx val="5"/>
            <c:invertIfNegative val="0"/>
            <c:bubble3D val="0"/>
            <c:spPr>
              <a:solidFill>
                <a:srgbClr val="2E8B57"/>
              </a:solidFill>
            </c:spPr>
            <c:extLst>
              <c:ext xmlns:c16="http://schemas.microsoft.com/office/drawing/2014/chart" uri="{C3380CC4-5D6E-409C-BE32-E72D297353CC}">
                <c16:uniqueId val="{0000000B-2780-1A47-A55A-8B9209331C2F}"/>
              </c:ext>
            </c:extLst>
          </c:dPt>
          <c:dPt>
            <c:idx val="6"/>
            <c:invertIfNegative val="0"/>
            <c:bubble3D val="0"/>
            <c:spPr>
              <a:solidFill>
                <a:srgbClr val="2E8B57"/>
              </a:solidFill>
            </c:spPr>
            <c:extLst>
              <c:ext xmlns:c16="http://schemas.microsoft.com/office/drawing/2014/chart" uri="{C3380CC4-5D6E-409C-BE32-E72D297353CC}">
                <c16:uniqueId val="{0000000D-2780-1A47-A55A-8B9209331C2F}"/>
              </c:ext>
            </c:extLst>
          </c:dPt>
          <c:dPt>
            <c:idx val="7"/>
            <c:invertIfNegative val="0"/>
            <c:bubble3D val="0"/>
            <c:spPr>
              <a:solidFill>
                <a:srgbClr val="2E8B57"/>
              </a:solidFill>
            </c:spPr>
            <c:extLst>
              <c:ext xmlns:c16="http://schemas.microsoft.com/office/drawing/2014/chart" uri="{C3380CC4-5D6E-409C-BE32-E72D297353CC}">
                <c16:uniqueId val="{0000000F-2780-1A47-A55A-8B9209331C2F}"/>
              </c:ext>
            </c:extLst>
          </c:dPt>
          <c:dLbls>
            <c:spPr>
              <a:noFill/>
              <a:ln>
                <a:noFill/>
              </a:ln>
              <a:effectLst/>
            </c:spPr>
            <c:txPr>
              <a:bodyPr anchorCtr="1"/>
              <a:lstStyle/>
              <a:p>
                <a:pPr rtl="0">
                  <a:defRPr lang="en-US" sz="1800" b="1">
                    <a:solidFill>
                      <a:srgbClr val="1E2B53"/>
                    </a:solidFill>
                    <a:latin typeface="Arial"/>
                    <a:ea typeface="Arial"/>
                    <a:cs typeface="Arial"/>
                  </a:defRPr>
                </a:pPr>
                <a:endParaRPr lang="en-S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Data'!$A$2:$A$9</c:f>
              <c:strCache>
                <c:ptCount val="8"/>
                <c:pt idx="0">
                  <c:v>Al-Jouf</c:v>
                </c:pt>
                <c:pt idx="1">
                  <c:v>Hail</c:v>
                </c:pt>
                <c:pt idx="2">
                  <c:v>Tabuk</c:v>
                </c:pt>
                <c:pt idx="3">
                  <c:v>Asir</c:v>
                </c:pt>
                <c:pt idx="4">
                  <c:v>Jazan</c:v>
                </c:pt>
                <c:pt idx="5">
                  <c:v>Al-Baha</c:v>
                </c:pt>
                <c:pt idx="6">
                  <c:v>Northern Borders</c:v>
                </c:pt>
                <c:pt idx="7">
                  <c:v>Najran</c:v>
                </c:pt>
              </c:strCache>
            </c:strRef>
          </c:cat>
          <c:val>
            <c:numRef>
              <c:f>'Chart Data'!$B$2:$B$9</c:f>
              <c:numCache>
                <c:formatCode>0.0%</c:formatCode>
                <c:ptCount val="8"/>
                <c:pt idx="0">
                  <c:v>1.6798345999999999E-2</c:v>
                </c:pt>
                <c:pt idx="1">
                  <c:v>2.4642813600000001E-2</c:v>
                </c:pt>
                <c:pt idx="2">
                  <c:v>4.9734452300000002E-2</c:v>
                </c:pt>
                <c:pt idx="3">
                  <c:v>6.8445397899999996E-2</c:v>
                </c:pt>
                <c:pt idx="4">
                  <c:v>0.16437666870000001</c:v>
                </c:pt>
                <c:pt idx="5">
                  <c:v>0.16913854640000001</c:v>
                </c:pt>
                <c:pt idx="6">
                  <c:v>0.1958856699</c:v>
                </c:pt>
                <c:pt idx="7">
                  <c:v>0.31097810520000002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2780-1A47-A55A-8B9209331C2F}"/>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rtl="0">
              <a:defRPr lang="en-US" sz="1800">
                <a:solidFill>
                  <a:srgbClr val="1E2B53"/>
                </a:solidFill>
                <a:latin typeface="Arial"/>
                <a:ea typeface="Arial"/>
                <a:cs typeface="Arial"/>
              </a:defRPr>
            </a:pPr>
            <a:endParaRPr lang="en-SA"/>
          </a:p>
        </c:txPr>
        <c:crossAx val="48672768"/>
        <c:crosses val="autoZero"/>
        <c:auto val="1"/>
        <c:lblAlgn val="ctr"/>
        <c:lblOffset val="100"/>
        <c:noMultiLvlLbl val="1"/>
      </c:catAx>
      <c:valAx>
        <c:axId val="48672768"/>
        <c:scaling>
          <c:orientation val="minMax"/>
          <c:max val="0.4"/>
          <c:min val="0"/>
        </c:scaling>
        <c:delete val="0"/>
        <c:axPos val="b"/>
        <c:majorGridlines>
          <c:spPr>
            <a:ln w="9525">
              <a:solidFill>
                <a:srgbClr val="DCE1E8"/>
              </a:solidFill>
            </a:ln>
          </c:spPr>
        </c:majorGridlines>
        <c:numFmt formatCode="0.0%" sourceLinked="1"/>
        <c:majorTickMark val="none"/>
        <c:minorTickMark val="none"/>
        <c:tickLblPos val="nextTo"/>
        <c:spPr>
          <a:ln w="9525">
            <a:solidFill>
              <a:srgbClr val="D4D4D4"/>
            </a:solidFill>
            <a:prstDash val="solid"/>
          </a:ln>
        </c:spPr>
        <c:txPr>
          <a:bodyPr anchorCtr="1"/>
          <a:lstStyle/>
          <a:p>
            <a:pPr rtl="0">
              <a:defRPr lang="en-US" sz="1425">
                <a:solidFill>
                  <a:srgbClr val="637080"/>
                </a:solidFill>
                <a:latin typeface="Arial"/>
                <a:ea typeface="Arial"/>
                <a:cs typeface="Arial"/>
              </a:defRPr>
            </a:pPr>
            <a:endParaRPr lang="en-SA"/>
          </a:p>
        </c:txPr>
        <c:crossAx val="48650112"/>
        <c:crosses val="autoZero"/>
        <c:crossBetween val="between"/>
        <c:majorUnit val="0.1"/>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0:00–0:30.</a:t>
            </a:r>
          </a:p>
          <a:p>
            <a:r>
              <a:t>We recommend approving SAR 40 million to support the eight regions below the digital-adoption target. Allocate SAR 27 million to Najran, Northern Borders and Al-Baha because they account for the largest share of the gap. We ask you to launch a first phase of SAR 10 million, then review the results after 90 days before releasing the remainder.</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0:30–1:15.</a:t>
            </a:r>
          </a:p>
          <a:p>
            <a:r>
              <a:t>The green line shows national adoption over 48 months. The red line marks the 65% target. By December, adoption reached 66.2%, compared with 54.1% at the start of the period. The first crossing occurred in August 2025. The national picture is positive. However, the national average can hide differences between regions. My colleague will show those differences next.</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1:15–2:00.</a:t>
            </a:r>
          </a:p>
          <a:p>
            <a:r>
              <a:t>These bars show all regions in December on a scale that starts at zero. Focus on the eight red bars. Najran is furthest from the target, at 60.9%, a gap of 4.1 percentage points. Northern Borders and Al-Baha follow. Even regions close to the target, such as Al-Jouf and Hail, do not qualify as having reached it simply because a rounded percentage might suggest that. We therefore base the decision on precise values.</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2:00–3:45.</a:t>
            </a:r>
          </a:p>
          <a:p>
            <a:r>
              <a:t>This chart shows each region's share of the total gap, rather than its adoption rate. We combine two factors: how far the region is below the target, and the size of its user weights. Najran alone accounts for 31.1% of the gap. Northern Borders accounts for 19.6%, and Al-Baha for 16.9%. Together, they account for 67.6%, so they receive most of the proposed funding. Jazan also accounts for 16.4%. Excluding it entirely would be difficult to justify. These weights come from aggregated data and do not count distinct people. The measure ranks the size of the need. It does not establish which region will deliver the highest return per riyal. That is why we link disbursement to testing and measured results. We concentrate the priority while retaining support for the remaining regions. We will now compare the options supported by this evidence.</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3:45–4:45.</a:t>
            </a:r>
          </a:p>
          <a:p>
            <a:r>
              <a:t>We have three options. Equal allocation is straightforward, but gives additional funding to regions that already exceed the target. Focusing entirely on three regions gives them more resources, but leaves Jazan and other lagging regions without support. We select allocation by gap across all eight regions. This gives most funding to our three priorities while retaining support for the others. We review delivery costs at the start and phase the release so that we can adjust the decision if the actual response differs.</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4:45–6:00.</a:t>
            </a:r>
          </a:p>
          <a:p>
            <a:r>
              <a:t>The proposed allocation appears in the table: SAR 12.4 million for Najran, 7.8 million for Northern Borders, and 6.8 million for Al-Baha. Together, they receive SAR 27 million. The remaining SAR 13 million goes to Jazan, Asir, Tabuk, Hail and Al-Jouf. The budget totals exactly SAR 40 million. We base the allocation on gap shares, rounded to SAR 100,000. We begin with SAR 10 million using the same proportions. First, we identify where users stop in the service journey. We then test simpler steps and digital assistance. Our intended effect is to reduce the gap toward 65%. We do not claim that SAR 40 million guarantees this outcome. The dataset contains no intervention costs or experiment measuring returns. We therefore retain the next SAR 30 million for expansion that measured results justify.</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6:00–6:40, with 20 seconds in reserve.</a:t>
            </a:r>
          </a:p>
          <a:p>
            <a:r>
              <a:t>Today, we ask you to approve the SAR 40 million allocation and launch the first phase of SAR 10 million. Within 30 days, the programme team verifies the baseline and identifies adoption barriers and intervention costs. After 90 days, the committee reviews the results: did adoption improve, at what cost, and does the improvement reflect the intervention or the general trend? We then release the next funding or adjust the intervention. Our message is consistent: prioritize Najran, Northern Borders and Al-Baha while supporting the other regions below 65%.</a:t>
            </a:r>
          </a:p>
          <a:p>
            <a:endParaRPr/>
          </a:p>
          <a:p>
            <a:r>
              <a:t>Source: tayseer_services_synthetic (1).csv in the Day1 folder. Baseline: December 2025. Adoption = SUM(digital_adoption_pct × unique_users) / SUM(unique_users). Day2 guide: Lab4_Tableau_Steps_Student_Guide.docx. Course materials: https://drive.google.com/drive/folders/1KPXlEdE1pQFHT6LKwvDHwYx6w0Hx2fTS . Charts reproduce the CSV using the Tableau guide formula. They are not screenshots from a completed team dashboard. unique_users provides row-level weights. Summing these across channels and services does not establish a distinct-person count. The budget and interventions are proposals, not causal-effect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EBDD"/>
        </a:solidFill>
        <a:effectLst/>
      </p:bgPr>
    </p:bg>
    <p:spTree>
      <p:nvGrpSpPr>
        <p:cNvPr id="1" name=""/>
        <p:cNvGrpSpPr/>
        <p:nvPr/>
      </p:nvGrpSpPr>
      <p:grpSpPr>
        <a:xfrm>
          <a:off x="0" y="0"/>
          <a:ext cx="0" cy="0"/>
          <a:chOff x="0" y="0"/>
          <a:chExt cx="0" cy="0"/>
        </a:xfrm>
      </p:grpSpPr>
      <p:sp>
        <p:nvSpPr>
          <p:cNvPr id="2" name="Accent Line"/>
          <p:cNvSpPr/>
          <p:nvPr/>
        </p:nvSpPr>
        <p:spPr>
          <a:xfrm>
            <a:off x="914400" y="2468880"/>
            <a:ext cx="822960" cy="64008"/>
          </a:xfrm>
          <a:prstGeom prst="rect">
            <a:avLst/>
          </a:prstGeom>
          <a:solidFill>
            <a:srgbClr val="2E8B57"/>
          </a:solidFill>
          <a:ln>
            <a:noFill/>
          </a:ln>
        </p:spPr>
        <p:txBody>
          <a:bodyPr/>
          <a:lstStyle/>
          <a:p>
            <a:endParaRPr lang="en-US"/>
          </a:p>
        </p:txBody>
      </p:sp>
      <p:sp>
        <p:nvSpPr>
          <p:cNvPr id="3" name="Title"/>
          <p:cNvSpPr txBox="1"/>
          <p:nvPr/>
        </p:nvSpPr>
        <p:spPr>
          <a:xfrm>
            <a:off x="914400" y="2743200"/>
            <a:ext cx="10058400" cy="1005840"/>
          </a:xfrm>
          <a:prstGeom prst="rect">
            <a:avLst/>
          </a:prstGeom>
          <a:noFill/>
        </p:spPr>
        <p:txBody>
          <a:bodyPr wrap="square" lIns="0" tIns="0" rIns="0" bIns="0" anchor="t">
            <a:noAutofit/>
          </a:bodyPr>
          <a:lstStyle/>
          <a:p>
            <a:pPr algn="l" rtl="0"/>
            <a:endParaRPr lang="en-US" sz="6000" b="1" dirty="0">
              <a:solidFill>
                <a:srgbClr val="1E2B53"/>
              </a:solidFill>
              <a:latin typeface="Arial"/>
              <a:ea typeface="Arial"/>
              <a:cs typeface="Arial"/>
            </a:endParaRPr>
          </a:p>
        </p:txBody>
      </p:sp>
      <p:sp>
        <p:nvSpPr>
          <p:cNvPr id="4" name="Subtitle"/>
          <p:cNvSpPr txBox="1"/>
          <p:nvPr/>
        </p:nvSpPr>
        <p:spPr>
          <a:xfrm>
            <a:off x="796413" y="3151214"/>
            <a:ext cx="10058400" cy="548640"/>
          </a:xfrm>
          <a:prstGeom prst="rect">
            <a:avLst/>
          </a:prstGeom>
          <a:noFill/>
        </p:spPr>
        <p:txBody>
          <a:bodyPr wrap="square" lIns="0" tIns="0" rIns="0" bIns="0" anchor="t">
            <a:noAutofit/>
          </a:bodyPr>
          <a:lstStyle/>
          <a:p>
            <a:pPr algn="l" rtl="0"/>
            <a:r>
              <a:rPr lang="en-US" sz="2800" b="0" dirty="0">
                <a:solidFill>
                  <a:srgbClr val="1E2B53"/>
                </a:solidFill>
                <a:latin typeface="Arial"/>
                <a:ea typeface="Arial"/>
                <a:cs typeface="Arial"/>
              </a:rPr>
              <a:t>Regional Adoption Funding Recommendation</a:t>
            </a:r>
          </a:p>
        </p:txBody>
      </p:sp>
      <p:sp>
        <p:nvSpPr>
          <p:cNvPr id="5" name="Date"/>
          <p:cNvSpPr txBox="1"/>
          <p:nvPr/>
        </p:nvSpPr>
        <p:spPr>
          <a:xfrm>
            <a:off x="914400" y="4572000"/>
            <a:ext cx="6400800" cy="365760"/>
          </a:xfrm>
          <a:prstGeom prst="rect">
            <a:avLst/>
          </a:prstGeom>
          <a:noFill/>
        </p:spPr>
        <p:txBody>
          <a:bodyPr wrap="square" lIns="0" tIns="0" rIns="0" bIns="0" anchor="t">
            <a:noAutofit/>
          </a:bodyPr>
          <a:lstStyle/>
          <a:p>
            <a:pPr algn="l" rtl="0"/>
            <a:r>
              <a:rPr lang="en-US" sz="1600" b="0" dirty="0">
                <a:solidFill>
                  <a:srgbClr val="637080"/>
                </a:solidFill>
                <a:latin typeface="Arial"/>
                <a:ea typeface="Arial"/>
                <a:cs typeface="Arial"/>
              </a:rPr>
              <a:t>Rayan </a:t>
            </a:r>
            <a:r>
              <a:rPr lang="en-US" sz="1600" b="0" dirty="0" err="1">
                <a:solidFill>
                  <a:srgbClr val="637080"/>
                </a:solidFill>
                <a:latin typeface="Arial"/>
                <a:ea typeface="Arial"/>
                <a:cs typeface="Arial"/>
              </a:rPr>
              <a:t>Aloraydi</a:t>
            </a:r>
            <a:endParaRPr lang="en-US" sz="1600" b="0" dirty="0">
              <a:solidFill>
                <a:srgbClr val="637080"/>
              </a:solidFill>
              <a:latin typeface="Arial"/>
              <a:ea typeface="Arial"/>
              <a:cs typeface="Arial"/>
            </a:endParaRPr>
          </a:p>
          <a:p>
            <a:pPr algn="l" rtl="0"/>
            <a:r>
              <a:rPr lang="en-US" sz="1600" b="0" dirty="0">
                <a:solidFill>
                  <a:srgbClr val="637080"/>
                </a:solidFill>
                <a:latin typeface="Arial"/>
                <a:ea typeface="Arial"/>
                <a:cs typeface="Arial"/>
              </a:rPr>
              <a:t>Raed </a:t>
            </a:r>
            <a:r>
              <a:rPr lang="en-US" sz="1600" b="0" dirty="0" err="1">
                <a:solidFill>
                  <a:srgbClr val="637080"/>
                </a:solidFill>
                <a:latin typeface="Arial"/>
                <a:ea typeface="Arial"/>
                <a:cs typeface="Arial"/>
              </a:rPr>
              <a:t>Alokaili</a:t>
            </a:r>
            <a:endParaRPr lang="en-US" sz="1600" b="0" dirty="0">
              <a:solidFill>
                <a:srgbClr val="637080"/>
              </a:solidFill>
              <a:latin typeface="Arial"/>
              <a:ea typeface="Arial"/>
              <a:cs typeface="Arial"/>
            </a:endParaRPr>
          </a:p>
          <a:p>
            <a:pPr algn="l" rtl="0"/>
            <a:r>
              <a:rPr lang="en-US" sz="1600" dirty="0">
                <a:solidFill>
                  <a:srgbClr val="637080"/>
                </a:solidFill>
                <a:latin typeface="Arial"/>
                <a:ea typeface="Arial"/>
                <a:cs typeface="Arial"/>
              </a:rPr>
              <a:t>Mohammed </a:t>
            </a:r>
            <a:r>
              <a:rPr lang="en-US" sz="1600" dirty="0" err="1">
                <a:solidFill>
                  <a:srgbClr val="637080"/>
                </a:solidFill>
                <a:latin typeface="Arial"/>
                <a:ea typeface="Arial"/>
                <a:cs typeface="Arial"/>
              </a:rPr>
              <a:t>Alarifi</a:t>
            </a:r>
            <a:endParaRPr lang="en-US" sz="1600" dirty="0">
              <a:solidFill>
                <a:srgbClr val="637080"/>
              </a:solidFill>
              <a:latin typeface="Arial"/>
              <a:ea typeface="Arial"/>
              <a:cs typeface="Arial"/>
            </a:endParaRPr>
          </a:p>
          <a:p>
            <a:pPr algn="l" rtl="0"/>
            <a:r>
              <a:rPr lang="en-US" sz="1600" dirty="0">
                <a:solidFill>
                  <a:srgbClr val="637080"/>
                </a:solidFill>
                <a:latin typeface="Arial"/>
                <a:ea typeface="Arial"/>
                <a:cs typeface="Arial"/>
              </a:rPr>
              <a:t>Khaled </a:t>
            </a:r>
            <a:r>
              <a:rPr lang="en-US" sz="1600" dirty="0" err="1">
                <a:solidFill>
                  <a:srgbClr val="637080"/>
                </a:solidFill>
                <a:latin typeface="Arial"/>
                <a:ea typeface="Arial"/>
                <a:cs typeface="Arial"/>
              </a:rPr>
              <a:t>alromaizan</a:t>
            </a:r>
            <a:endParaRPr lang="en-US" sz="1600" dirty="0">
              <a:solidFill>
                <a:srgbClr val="637080"/>
              </a:solidFill>
              <a:latin typeface="Arial"/>
              <a:ea typeface="Arial"/>
              <a:cs typeface="Arial"/>
            </a:endParaRPr>
          </a:p>
          <a:p>
            <a:pPr algn="l" rtl="0"/>
            <a:endParaRPr lang="en-US" sz="1600" b="0" dirty="0">
              <a:solidFill>
                <a:srgbClr val="637080"/>
              </a:solidFill>
              <a:latin typeface="Arial"/>
              <a:ea typeface="Arial"/>
              <a:cs typeface="Arial"/>
            </a:endParaRPr>
          </a:p>
        </p:txBody>
      </p:sp>
      <p:sp>
        <p:nvSpPr>
          <p:cNvPr id="6" name="Bottom Band"/>
          <p:cNvSpPr/>
          <p:nvPr/>
        </p:nvSpPr>
        <p:spPr>
          <a:xfrm>
            <a:off x="0" y="6743700"/>
            <a:ext cx="12192000" cy="114300"/>
          </a:xfrm>
          <a:prstGeom prst="rect">
            <a:avLst/>
          </a:prstGeom>
          <a:solidFill>
            <a:srgbClr val="1E2B53"/>
          </a:solidFill>
          <a:ln>
            <a:no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B5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57AE9-3ADF-4D05-8DD0-E063E0C2427A}"/>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defRPr lang="en-US" sz="3300" b="1">
                <a:solidFill>
                  <a:srgbClr val="FFFFFF"/>
                </a:solidFill>
                <a:latin typeface="Arial"/>
                <a:ea typeface="Arial"/>
                <a:cs typeface="Arial"/>
              </a:defRPr>
            </a:pPr>
            <a:r>
              <a:rPr lang="en-US" sz="3300" b="1" dirty="0">
                <a:solidFill>
                  <a:srgbClr val="FFFFFF"/>
                </a:solidFill>
                <a:latin typeface="Arial"/>
                <a:ea typeface="Arial"/>
                <a:cs typeface="Arial"/>
              </a:rPr>
              <a:t>27M SAR for the highest-priority regions</a:t>
            </a:r>
          </a:p>
        </p:txBody>
      </p:sp>
      <p:sp>
        <p:nvSpPr>
          <p:cNvPr id="2" name="Rectangle 1">
            <a:extLst>
              <a:ext uri="{FF2B5EF4-FFF2-40B4-BE49-F238E27FC236}">
                <a16:creationId xmlns:a16="http://schemas.microsoft.com/office/drawing/2014/main" id="{C84CBDA3-7509-4D1B-9998-EC936DE3D935}"/>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CBD2E1"/>
                </a:solidFill>
                <a:latin typeface="Arial"/>
                <a:ea typeface="Arial"/>
                <a:cs typeface="Arial"/>
              </a:defRPr>
            </a:pPr>
            <a:r>
              <a:rPr lang="en-US" sz="1350" b="0">
                <a:solidFill>
                  <a:srgbClr val="CBD2E1"/>
                </a:solidFill>
                <a:latin typeface="Arial"/>
                <a:ea typeface="Arial"/>
                <a:cs typeface="Arial"/>
              </a:rPr>
              <a:t>1 / 7</a:t>
            </a:r>
          </a:p>
        </p:txBody>
      </p:sp>
      <p:sp>
        <p:nvSpPr>
          <p:cNvPr id="3" name="Rectangle 2">
            <a:extLst>
              <a:ext uri="{FF2B5EF4-FFF2-40B4-BE49-F238E27FC236}">
                <a16:creationId xmlns:a16="http://schemas.microsoft.com/office/drawing/2014/main" id="{105D5B9A-B373-448E-8814-02999361EEBD}"/>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CBD2E1"/>
                </a:solidFill>
                <a:latin typeface="Arial"/>
                <a:ea typeface="Arial"/>
                <a:cs typeface="Arial"/>
              </a:defRPr>
            </a:pPr>
            <a:r>
              <a:rPr lang="en-US" sz="1350" b="0" dirty="0">
                <a:solidFill>
                  <a:srgbClr val="CBD2E1"/>
                </a:solidFill>
                <a:latin typeface="Arial"/>
                <a:ea typeface="Arial"/>
                <a:cs typeface="Arial"/>
              </a:rPr>
              <a:t>, synthetic training data,</a:t>
            </a:r>
          </a:p>
        </p:txBody>
      </p:sp>
      <p:sp>
        <p:nvSpPr>
          <p:cNvPr id="4" name="Rectangle 3">
            <a:extLst>
              <a:ext uri="{FF2B5EF4-FFF2-40B4-BE49-F238E27FC236}">
                <a16:creationId xmlns:a16="http://schemas.microsoft.com/office/drawing/2014/main" id="{4AE5D874-F4F5-45BE-9A64-1AEB8B90E9A9}"/>
              </a:ext>
            </a:extLst>
          </p:cNvPr>
          <p:cNvSpPr>
            <a:spLocks noGrp="1"/>
          </p:cNvSpPr>
          <p:nvPr/>
        </p:nvSpPr>
        <p:spPr>
          <a:xfrm>
            <a:off x="609600" y="1762125"/>
            <a:ext cx="10972800" cy="628650"/>
          </a:xfrm>
          <a:prstGeom prst="rect">
            <a:avLst/>
          </a:prstGeom>
          <a:noFill/>
          <a:ln w="0">
            <a:noFill/>
          </a:ln>
        </p:spPr>
        <p:txBody>
          <a:bodyPr wrap="square" lIns="0" tIns="0" rIns="0" bIns="0" anchor="t">
            <a:noAutofit/>
          </a:bodyPr>
          <a:lstStyle/>
          <a:p>
            <a:pPr algn="l" rtl="0">
              <a:defRPr lang="en-US" sz="2850" b="1">
                <a:solidFill>
                  <a:srgbClr val="FFFFFF"/>
                </a:solidFill>
                <a:latin typeface="Arial"/>
                <a:ea typeface="Arial"/>
                <a:cs typeface="Arial"/>
              </a:defRPr>
            </a:pPr>
            <a:r>
              <a:rPr lang="en-US" sz="2850" b="1">
                <a:solidFill>
                  <a:srgbClr val="FFFFFF"/>
                </a:solidFill>
                <a:latin typeface="Arial"/>
                <a:ea typeface="Arial"/>
                <a:cs typeface="Arial"/>
              </a:rPr>
              <a:t>Najran, Northern Borders and Al-Baha</a:t>
            </a:r>
          </a:p>
        </p:txBody>
      </p:sp>
      <p:sp>
        <p:nvSpPr>
          <p:cNvPr id="5" name="Rectangle 4">
            <a:extLst>
              <a:ext uri="{FF2B5EF4-FFF2-40B4-BE49-F238E27FC236}">
                <a16:creationId xmlns:a16="http://schemas.microsoft.com/office/drawing/2014/main" id="{4E41C662-6521-47B3-B4BB-E118F51177F7}"/>
              </a:ext>
            </a:extLst>
          </p:cNvPr>
          <p:cNvSpPr>
            <a:spLocks noGrp="1"/>
          </p:cNvSpPr>
          <p:nvPr/>
        </p:nvSpPr>
        <p:spPr>
          <a:xfrm>
            <a:off x="609600" y="2714625"/>
            <a:ext cx="3619500" cy="1504950"/>
          </a:xfrm>
          <a:prstGeom prst="rect">
            <a:avLst/>
          </a:prstGeom>
          <a:noFill/>
          <a:ln w="0">
            <a:noFill/>
          </a:ln>
        </p:spPr>
        <p:txBody>
          <a:bodyPr wrap="square" lIns="0" tIns="0" rIns="0" bIns="0" anchor="t">
            <a:noAutofit/>
          </a:bodyPr>
          <a:lstStyle/>
          <a:p>
            <a:pPr algn="l" rtl="0">
              <a:defRPr lang="en-US" sz="9900" b="1">
                <a:solidFill>
                  <a:srgbClr val="6BBF8E"/>
                </a:solidFill>
                <a:latin typeface="Arial"/>
                <a:ea typeface="Arial"/>
                <a:cs typeface="Arial"/>
              </a:defRPr>
            </a:pPr>
            <a:r>
              <a:rPr lang="en-US" sz="9900" b="1">
                <a:solidFill>
                  <a:srgbClr val="6BBF8E"/>
                </a:solidFill>
                <a:latin typeface="Arial"/>
                <a:ea typeface="Arial"/>
                <a:cs typeface="Arial"/>
              </a:rPr>
              <a:t>40</a:t>
            </a:r>
          </a:p>
        </p:txBody>
      </p:sp>
      <p:sp>
        <p:nvSpPr>
          <p:cNvPr id="6" name="Rectangle 5">
            <a:extLst>
              <a:ext uri="{FF2B5EF4-FFF2-40B4-BE49-F238E27FC236}">
                <a16:creationId xmlns:a16="http://schemas.microsoft.com/office/drawing/2014/main" id="{18A7325B-304C-4128-BAEE-458E268C8955}"/>
              </a:ext>
            </a:extLst>
          </p:cNvPr>
          <p:cNvSpPr>
            <a:spLocks noGrp="1"/>
          </p:cNvSpPr>
          <p:nvPr/>
        </p:nvSpPr>
        <p:spPr>
          <a:xfrm>
            <a:off x="666750" y="4191000"/>
            <a:ext cx="3524250" cy="628650"/>
          </a:xfrm>
          <a:prstGeom prst="rect">
            <a:avLst/>
          </a:prstGeom>
          <a:noFill/>
          <a:ln w="0">
            <a:noFill/>
          </a:ln>
        </p:spPr>
        <p:txBody>
          <a:bodyPr wrap="square" lIns="0" tIns="0" rIns="0" bIns="0" anchor="t">
            <a:noAutofit/>
          </a:bodyPr>
          <a:lstStyle/>
          <a:p>
            <a:pPr algn="l" rtl="0">
              <a:defRPr lang="en-US" sz="2850" b="0">
                <a:solidFill>
                  <a:srgbClr val="FFFFFF"/>
                </a:solidFill>
                <a:latin typeface="Arial"/>
                <a:ea typeface="Arial"/>
                <a:cs typeface="Arial"/>
              </a:defRPr>
            </a:pPr>
            <a:r>
              <a:rPr lang="en-US" sz="2850" b="0">
                <a:solidFill>
                  <a:srgbClr val="FFFFFF"/>
                </a:solidFill>
                <a:latin typeface="Arial"/>
                <a:ea typeface="Arial"/>
                <a:cs typeface="Arial"/>
              </a:rPr>
              <a:t>million SAR</a:t>
            </a:r>
          </a:p>
        </p:txBody>
      </p:sp>
      <p:sp>
        <p:nvSpPr>
          <p:cNvPr id="7" name="Rectangle 6">
            <a:extLst>
              <a:ext uri="{FF2B5EF4-FFF2-40B4-BE49-F238E27FC236}">
                <a16:creationId xmlns:a16="http://schemas.microsoft.com/office/drawing/2014/main" id="{30132750-AD9D-42F9-90A6-1DDC91F748E4}"/>
              </a:ext>
            </a:extLst>
          </p:cNvPr>
          <p:cNvSpPr>
            <a:spLocks noGrp="1"/>
          </p:cNvSpPr>
          <p:nvPr/>
        </p:nvSpPr>
        <p:spPr>
          <a:xfrm>
            <a:off x="4476750" y="2667000"/>
            <a:ext cx="7105650" cy="1295400"/>
          </a:xfrm>
          <a:prstGeom prst="rect">
            <a:avLst/>
          </a:prstGeom>
          <a:noFill/>
          <a:ln w="0">
            <a:noFill/>
          </a:ln>
        </p:spPr>
        <p:txBody>
          <a:bodyPr wrap="square" lIns="0" tIns="0" rIns="0" bIns="0" anchor="t">
            <a:noAutofit/>
          </a:bodyPr>
          <a:lstStyle/>
          <a:p>
            <a:pPr algn="l" rtl="0">
              <a:defRPr lang="en-US" sz="2550" b="1">
                <a:solidFill>
                  <a:srgbClr val="FFFFFF"/>
                </a:solidFill>
                <a:latin typeface="Arial"/>
                <a:ea typeface="Arial"/>
                <a:cs typeface="Arial"/>
              </a:defRPr>
            </a:pPr>
            <a:r>
              <a:rPr lang="en-US" sz="2550" b="1">
                <a:solidFill>
                  <a:srgbClr val="FFFFFF"/>
                </a:solidFill>
                <a:latin typeface="Arial"/>
                <a:ea typeface="Arial"/>
                <a:cs typeface="Arial"/>
              </a:rPr>
              <a:t>Recommendation: fund eight regions below 65%</a:t>
            </a:r>
          </a:p>
          <a:p>
            <a:pPr algn="l" rtl="0">
              <a:defRPr lang="en-US" sz="2550" b="1">
                <a:solidFill>
                  <a:srgbClr val="FFFFFF"/>
                </a:solidFill>
                <a:latin typeface="Arial"/>
                <a:ea typeface="Arial"/>
                <a:cs typeface="Arial"/>
              </a:defRPr>
            </a:pPr>
            <a:r>
              <a:rPr lang="en-US" sz="2550" b="1">
                <a:solidFill>
                  <a:srgbClr val="FFFFFF"/>
                </a:solidFill>
                <a:latin typeface="Arial"/>
                <a:ea typeface="Arial"/>
                <a:cs typeface="Arial"/>
              </a:rPr>
              <a:t>in proportion to their weighted gaps</a:t>
            </a:r>
          </a:p>
        </p:txBody>
      </p:sp>
      <p:sp>
        <p:nvSpPr>
          <p:cNvPr id="8" name="Rectangle 7">
            <a:extLst>
              <a:ext uri="{FF2B5EF4-FFF2-40B4-BE49-F238E27FC236}">
                <a16:creationId xmlns:a16="http://schemas.microsoft.com/office/drawing/2014/main" id="{34E05005-082D-4B61-A706-50B5BCFEFD14}"/>
              </a:ext>
            </a:extLst>
          </p:cNvPr>
          <p:cNvSpPr>
            <a:spLocks noGrp="1"/>
          </p:cNvSpPr>
          <p:nvPr/>
        </p:nvSpPr>
        <p:spPr>
          <a:xfrm>
            <a:off x="4476750" y="4381500"/>
            <a:ext cx="7105650" cy="1143000"/>
          </a:xfrm>
          <a:prstGeom prst="rect">
            <a:avLst/>
          </a:prstGeom>
          <a:noFill/>
          <a:ln w="0">
            <a:noFill/>
          </a:ln>
        </p:spPr>
        <p:txBody>
          <a:bodyPr wrap="square" lIns="0" tIns="0" rIns="0" bIns="0" anchor="t">
            <a:noAutofit/>
          </a:bodyPr>
          <a:lstStyle/>
          <a:p>
            <a:pPr algn="l" rtl="0">
              <a:defRPr lang="en-US" sz="2250" b="0">
                <a:solidFill>
                  <a:srgbClr val="FFFFFF"/>
                </a:solidFill>
                <a:latin typeface="Arial"/>
                <a:ea typeface="Arial"/>
                <a:cs typeface="Arial"/>
              </a:defRPr>
            </a:pPr>
            <a:r>
              <a:rPr lang="en-US" sz="2250" b="0" dirty="0">
                <a:solidFill>
                  <a:srgbClr val="FFFFFF"/>
                </a:solidFill>
                <a:latin typeface="Arial"/>
                <a:ea typeface="Arial"/>
                <a:cs typeface="Arial"/>
              </a:rPr>
              <a:t> approve the allocation and launch SAR 10M</a:t>
            </a:r>
          </a:p>
          <a:p>
            <a:pPr algn="l" rtl="0">
              <a:defRPr lang="en-US" sz="2250" b="0">
                <a:solidFill>
                  <a:srgbClr val="FFFFFF"/>
                </a:solidFill>
                <a:latin typeface="Arial"/>
                <a:ea typeface="Arial"/>
                <a:cs typeface="Arial"/>
              </a:defRPr>
            </a:pPr>
            <a:r>
              <a:rPr lang="en-US" sz="2250" b="0" dirty="0">
                <a:solidFill>
                  <a:srgbClr val="FFFFFF"/>
                </a:solidFill>
                <a:latin typeface="Arial"/>
                <a:ea typeface="Arial"/>
                <a:cs typeface="Arial"/>
              </a:rPr>
              <a:t>for phase one, then review after 90 days</a:t>
            </a:r>
          </a:p>
        </p:txBody>
      </p:sp>
    </p:spTree>
    <p:extLst>
      <p:ext uri="{BB962C8B-B14F-4D97-AF65-F5344CB8AC3E}">
        <p14:creationId xmlns:p14="http://schemas.microsoft.com/office/powerpoint/2010/main" val="117092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C19E74-6667-4A9E-96B2-F3F0E7BB8370}"/>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lgn="l" rtl="0">
              <a:defRPr lang="en-US" sz="3300" b="1">
                <a:solidFill>
                  <a:srgbClr val="1E2B53"/>
                </a:solidFill>
                <a:latin typeface="Arial"/>
                <a:ea typeface="Arial"/>
                <a:cs typeface="Arial"/>
              </a:defRPr>
            </a:pPr>
            <a:r>
              <a:rPr lang="en-US" sz="3300" b="1">
                <a:solidFill>
                  <a:srgbClr val="1E2B53"/>
                </a:solidFill>
                <a:latin typeface="Arial"/>
                <a:ea typeface="Arial"/>
                <a:cs typeface="Arial"/>
              </a:rPr>
              <a:t>National adoption is 66.2%, above the 65% target</a:t>
            </a:r>
          </a:p>
        </p:txBody>
      </p:sp>
      <p:sp>
        <p:nvSpPr>
          <p:cNvPr id="2" name="Rectangle 1">
            <a:extLst>
              <a:ext uri="{FF2B5EF4-FFF2-40B4-BE49-F238E27FC236}">
                <a16:creationId xmlns:a16="http://schemas.microsoft.com/office/drawing/2014/main" id="{3A637E3E-E2BF-47B5-A790-DEB1F98742D7}"/>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2 / 7</a:t>
            </a:r>
          </a:p>
        </p:txBody>
      </p:sp>
      <p:sp>
        <p:nvSpPr>
          <p:cNvPr id="3" name="Rectangle 2">
            <a:extLst>
              <a:ext uri="{FF2B5EF4-FFF2-40B4-BE49-F238E27FC236}">
                <a16:creationId xmlns:a16="http://schemas.microsoft.com/office/drawing/2014/main" id="{6DBC2642-97B9-4934-B06A-716D6823D3ED}"/>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dirty="0">
                <a:solidFill>
                  <a:srgbClr val="637080"/>
                </a:solidFill>
                <a:latin typeface="Arial"/>
                <a:ea typeface="Arial"/>
                <a:cs typeface="Arial"/>
              </a:rPr>
              <a:t>, synthetic training data,</a:t>
            </a:r>
          </a:p>
        </p:txBody>
      </p:sp>
      <p:sp>
        <p:nvSpPr>
          <p:cNvPr id="4" name="Rectangle 3">
            <a:extLst>
              <a:ext uri="{FF2B5EF4-FFF2-40B4-BE49-F238E27FC236}">
                <a16:creationId xmlns:a16="http://schemas.microsoft.com/office/drawing/2014/main" id="{1AF58C1F-57C2-4270-A02C-5DC04D83121C}"/>
              </a:ext>
            </a:extLst>
          </p:cNvPr>
          <p:cNvSpPr>
            <a:spLocks noGrp="1"/>
          </p:cNvSpPr>
          <p:nvPr/>
        </p:nvSpPr>
        <p:spPr>
          <a:xfrm>
            <a:off x="8096250" y="1714500"/>
            <a:ext cx="3333750" cy="838200"/>
          </a:xfrm>
          <a:prstGeom prst="rect">
            <a:avLst/>
          </a:prstGeom>
          <a:noFill/>
          <a:ln w="0">
            <a:noFill/>
          </a:ln>
        </p:spPr>
        <p:txBody>
          <a:bodyPr wrap="square" lIns="0" tIns="0" rIns="0" bIns="0" anchor="t">
            <a:noAutofit/>
          </a:bodyPr>
          <a:lstStyle/>
          <a:p>
            <a:pPr algn="l" rtl="0">
              <a:defRPr lang="en-US" sz="5250" b="1">
                <a:solidFill>
                  <a:srgbClr val="2E8B57"/>
                </a:solidFill>
                <a:latin typeface="Arial"/>
                <a:ea typeface="Arial"/>
                <a:cs typeface="Arial"/>
              </a:defRPr>
            </a:pPr>
            <a:r>
              <a:rPr lang="en-US" sz="5250" b="1">
                <a:solidFill>
                  <a:srgbClr val="2E8B57"/>
                </a:solidFill>
                <a:latin typeface="Arial"/>
                <a:ea typeface="Arial"/>
                <a:cs typeface="Arial"/>
              </a:rPr>
              <a:t>66.2%</a:t>
            </a:r>
          </a:p>
        </p:txBody>
      </p:sp>
      <p:sp>
        <p:nvSpPr>
          <p:cNvPr id="5" name="Rectangle 4">
            <a:extLst>
              <a:ext uri="{FF2B5EF4-FFF2-40B4-BE49-F238E27FC236}">
                <a16:creationId xmlns:a16="http://schemas.microsoft.com/office/drawing/2014/main" id="{D60AD019-7004-4302-B9D5-05EE5EC3B233}"/>
              </a:ext>
            </a:extLst>
          </p:cNvPr>
          <p:cNvSpPr>
            <a:spLocks noGrp="1"/>
          </p:cNvSpPr>
          <p:nvPr/>
        </p:nvSpPr>
        <p:spPr>
          <a:xfrm>
            <a:off x="7858125" y="2724150"/>
            <a:ext cx="3714750" cy="819150"/>
          </a:xfrm>
          <a:prstGeom prst="rect">
            <a:avLst/>
          </a:prstGeom>
          <a:noFill/>
          <a:ln w="0">
            <a:noFill/>
          </a:ln>
        </p:spPr>
        <p:txBody>
          <a:bodyPr wrap="square" lIns="0" tIns="0" rIns="0" bIns="0" anchor="t">
            <a:noAutofit/>
          </a:bodyPr>
          <a:lstStyle/>
          <a:p>
            <a:pPr algn="l" rtl="0">
              <a:defRPr lang="en-US" sz="2100" b="0">
                <a:solidFill>
                  <a:srgbClr val="1E2B53"/>
                </a:solidFill>
                <a:latin typeface="Arial"/>
                <a:ea typeface="Arial"/>
                <a:cs typeface="Arial"/>
              </a:defRPr>
            </a:pPr>
            <a:r>
              <a:rPr lang="en-US" sz="2100" b="0">
                <a:solidFill>
                  <a:srgbClr val="1E2B53"/>
                </a:solidFill>
                <a:latin typeface="Arial"/>
                <a:ea typeface="Arial"/>
                <a:cs typeface="Arial"/>
              </a:rPr>
              <a:t>December 2025</a:t>
            </a:r>
          </a:p>
          <a:p>
            <a:pPr algn="l" rtl="0">
              <a:defRPr lang="en-US" sz="2100" b="0">
                <a:solidFill>
                  <a:srgbClr val="1E2B53"/>
                </a:solidFill>
                <a:latin typeface="Arial"/>
                <a:ea typeface="Arial"/>
                <a:cs typeface="Arial"/>
              </a:defRPr>
            </a:pPr>
            <a:r>
              <a:rPr lang="en-US" sz="2100" b="0">
                <a:solidFill>
                  <a:srgbClr val="1E2B53"/>
                </a:solidFill>
                <a:latin typeface="Arial"/>
                <a:ea typeface="Arial"/>
                <a:cs typeface="Arial"/>
              </a:rPr>
              <a:t>1.2 pp above target</a:t>
            </a:r>
          </a:p>
        </p:txBody>
      </p:sp>
      <p:sp>
        <p:nvSpPr>
          <p:cNvPr id="6" name="Rectangle 5">
            <a:extLst>
              <a:ext uri="{FF2B5EF4-FFF2-40B4-BE49-F238E27FC236}">
                <a16:creationId xmlns:a16="http://schemas.microsoft.com/office/drawing/2014/main" id="{14847E60-7B1B-476E-80D5-9B51CDFE608C}"/>
              </a:ext>
            </a:extLst>
          </p:cNvPr>
          <p:cNvSpPr>
            <a:spLocks noGrp="1"/>
          </p:cNvSpPr>
          <p:nvPr/>
        </p:nvSpPr>
        <p:spPr>
          <a:xfrm>
            <a:off x="8096250" y="3886200"/>
            <a:ext cx="3333750" cy="609600"/>
          </a:xfrm>
          <a:prstGeom prst="rect">
            <a:avLst/>
          </a:prstGeom>
          <a:noFill/>
          <a:ln w="0">
            <a:noFill/>
          </a:ln>
        </p:spPr>
        <p:txBody>
          <a:bodyPr wrap="square" lIns="0" tIns="0" rIns="0" bIns="0" anchor="t">
            <a:noAutofit/>
          </a:bodyPr>
          <a:lstStyle/>
          <a:p>
            <a:pPr algn="l" rtl="0">
              <a:defRPr lang="en-US" sz="3300" b="1">
                <a:solidFill>
                  <a:srgbClr val="637080"/>
                </a:solidFill>
                <a:latin typeface="Arial"/>
                <a:ea typeface="Arial"/>
                <a:cs typeface="Arial"/>
              </a:defRPr>
            </a:pPr>
            <a:r>
              <a:rPr lang="en-US" sz="3300" b="1">
                <a:solidFill>
                  <a:srgbClr val="637080"/>
                </a:solidFill>
                <a:latin typeface="Arial"/>
                <a:ea typeface="Arial"/>
                <a:cs typeface="Arial"/>
              </a:rPr>
              <a:t>54.1%</a:t>
            </a:r>
          </a:p>
        </p:txBody>
      </p:sp>
      <p:sp>
        <p:nvSpPr>
          <p:cNvPr id="7" name="Rectangle 6">
            <a:extLst>
              <a:ext uri="{FF2B5EF4-FFF2-40B4-BE49-F238E27FC236}">
                <a16:creationId xmlns:a16="http://schemas.microsoft.com/office/drawing/2014/main" id="{93E7DE16-D100-4104-A5EB-49C438A6E510}"/>
              </a:ext>
            </a:extLst>
          </p:cNvPr>
          <p:cNvSpPr>
            <a:spLocks noGrp="1"/>
          </p:cNvSpPr>
          <p:nvPr/>
        </p:nvSpPr>
        <p:spPr>
          <a:xfrm>
            <a:off x="7858125" y="4552950"/>
            <a:ext cx="3714750" cy="781050"/>
          </a:xfrm>
          <a:prstGeom prst="rect">
            <a:avLst/>
          </a:prstGeom>
          <a:noFill/>
          <a:ln w="0">
            <a:noFill/>
          </a:ln>
        </p:spPr>
        <p:txBody>
          <a:bodyPr wrap="square" lIns="0" tIns="0" rIns="0" bIns="0" anchor="t">
            <a:noAutofit/>
          </a:bodyPr>
          <a:lstStyle/>
          <a:p>
            <a:pPr algn="l" rtl="0">
              <a:defRPr lang="en-US" sz="2025" b="0">
                <a:solidFill>
                  <a:srgbClr val="637080"/>
                </a:solidFill>
                <a:latin typeface="Arial"/>
                <a:ea typeface="Arial"/>
                <a:cs typeface="Arial"/>
              </a:defRPr>
            </a:pPr>
            <a:r>
              <a:rPr lang="en-US" sz="2025" b="0">
                <a:solidFill>
                  <a:srgbClr val="637080"/>
                </a:solidFill>
                <a:latin typeface="Arial"/>
                <a:ea typeface="Arial"/>
                <a:cs typeface="Arial"/>
              </a:rPr>
              <a:t>January 2022</a:t>
            </a:r>
          </a:p>
          <a:p>
            <a:pPr algn="l" rtl="0">
              <a:defRPr lang="en-US" sz="2025" b="0">
                <a:solidFill>
                  <a:srgbClr val="637080"/>
                </a:solidFill>
                <a:latin typeface="Arial"/>
                <a:ea typeface="Arial"/>
                <a:cs typeface="Arial"/>
              </a:defRPr>
            </a:pPr>
            <a:r>
              <a:rPr lang="en-US" sz="2025" b="0">
                <a:solidFill>
                  <a:srgbClr val="637080"/>
                </a:solidFill>
                <a:latin typeface="Arial"/>
                <a:ea typeface="Arial"/>
                <a:cs typeface="Arial"/>
              </a:rPr>
              <a:t>+12.1 pp over the period</a:t>
            </a:r>
          </a:p>
        </p:txBody>
      </p:sp>
      <p:graphicFrame>
        <p:nvGraphicFramePr>
          <p:cNvPr id="17" name="Chart"/>
          <p:cNvGraphicFramePr/>
          <p:nvPr/>
        </p:nvGraphicFramePr>
        <p:xfrm>
          <a:off x="609600" y="1657350"/>
          <a:ext cx="69151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6626E8DA-FFF8-468A-98AD-B95A95C4ECA5}"/>
              </a:ext>
            </a:extLst>
          </p:cNvPr>
          <p:cNvSpPr>
            <a:spLocks noGrp="1"/>
          </p:cNvSpPr>
          <p:nvPr/>
        </p:nvSpPr>
        <p:spPr>
          <a:xfrm>
            <a:off x="609600" y="5762625"/>
            <a:ext cx="6915150" cy="323850"/>
          </a:xfrm>
          <a:prstGeom prst="rect">
            <a:avLst/>
          </a:prstGeom>
          <a:noFill/>
          <a:ln w="0">
            <a:noFill/>
          </a:ln>
        </p:spPr>
        <p:txBody>
          <a:bodyPr wrap="square" lIns="0" tIns="0" rIns="0" bIns="0" anchor="t">
            <a:noAutofit/>
          </a:bodyPr>
          <a:lstStyle/>
          <a:p>
            <a:pPr algn="l" rtl="0">
              <a:defRPr lang="en-US" sz="1650" b="0">
                <a:solidFill>
                  <a:srgbClr val="637080"/>
                </a:solidFill>
                <a:latin typeface="Arial"/>
                <a:ea typeface="Arial"/>
                <a:cs typeface="Arial"/>
              </a:defRPr>
            </a:pPr>
            <a:r>
              <a:rPr lang="en-US" sz="1650" b="0">
                <a:solidFill>
                  <a:srgbClr val="637080"/>
                </a:solidFill>
                <a:latin typeface="Arial"/>
                <a:ea typeface="Arial"/>
                <a:cs typeface="Arial"/>
              </a:rPr>
              <a:t>Red line: 65% target. First exceeded in August 2025</a:t>
            </a:r>
          </a:p>
        </p:txBody>
      </p:sp>
    </p:spTree>
    <p:extLst>
      <p:ext uri="{BB962C8B-B14F-4D97-AF65-F5344CB8AC3E}">
        <p14:creationId xmlns:p14="http://schemas.microsoft.com/office/powerpoint/2010/main" val="12062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1B7C3A-31B6-4DDF-8825-E2DC250B271A}"/>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lgn="l" rtl="0">
              <a:defRPr lang="en-US" sz="3300" b="1">
                <a:solidFill>
                  <a:srgbClr val="1E2B53"/>
                </a:solidFill>
                <a:latin typeface="Arial"/>
                <a:ea typeface="Arial"/>
                <a:cs typeface="Arial"/>
              </a:defRPr>
            </a:pPr>
            <a:r>
              <a:rPr lang="en-US" sz="3300" b="1">
                <a:solidFill>
                  <a:srgbClr val="1E2B53"/>
                </a:solidFill>
                <a:latin typeface="Arial"/>
                <a:ea typeface="Arial"/>
                <a:cs typeface="Arial"/>
              </a:rPr>
              <a:t>Eight regions remain below the adoption target</a:t>
            </a:r>
          </a:p>
        </p:txBody>
      </p:sp>
      <p:sp>
        <p:nvSpPr>
          <p:cNvPr id="2" name="Rectangle 1">
            <a:extLst>
              <a:ext uri="{FF2B5EF4-FFF2-40B4-BE49-F238E27FC236}">
                <a16:creationId xmlns:a16="http://schemas.microsoft.com/office/drawing/2014/main" id="{A23CA3A1-3471-422A-86B3-A58E62DDB575}"/>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3 / 7</a:t>
            </a:r>
          </a:p>
        </p:txBody>
      </p:sp>
      <p:sp>
        <p:nvSpPr>
          <p:cNvPr id="3" name="Rectangle 2">
            <a:extLst>
              <a:ext uri="{FF2B5EF4-FFF2-40B4-BE49-F238E27FC236}">
                <a16:creationId xmlns:a16="http://schemas.microsoft.com/office/drawing/2014/main" id="{F91F7DAA-88D5-49E9-B0C0-A8264ACDB26A}"/>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dirty="0">
                <a:solidFill>
                  <a:srgbClr val="637080"/>
                </a:solidFill>
                <a:latin typeface="Arial"/>
                <a:ea typeface="Arial"/>
                <a:cs typeface="Arial"/>
              </a:rPr>
              <a:t>Tayseer, synthetic training data,</a:t>
            </a:r>
          </a:p>
        </p:txBody>
      </p:sp>
      <p:graphicFrame>
        <p:nvGraphicFramePr>
          <p:cNvPr id="12" name="Chart"/>
          <p:cNvGraphicFramePr/>
          <p:nvPr/>
        </p:nvGraphicFramePr>
        <p:xfrm>
          <a:off x="609600" y="1571625"/>
          <a:ext cx="8305800" cy="45148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5E87D858-12D9-42D3-8262-946591C9F64A}"/>
              </a:ext>
            </a:extLst>
          </p:cNvPr>
          <p:cNvSpPr>
            <a:spLocks noGrp="1"/>
          </p:cNvSpPr>
          <p:nvPr/>
        </p:nvSpPr>
        <p:spPr>
          <a:xfrm>
            <a:off x="9248775" y="1781175"/>
            <a:ext cx="2266950" cy="619125"/>
          </a:xfrm>
          <a:prstGeom prst="rect">
            <a:avLst/>
          </a:prstGeom>
          <a:noFill/>
          <a:ln w="0">
            <a:noFill/>
          </a:ln>
        </p:spPr>
        <p:txBody>
          <a:bodyPr wrap="square" lIns="0" tIns="0" rIns="0" bIns="0" anchor="t">
            <a:noAutofit/>
          </a:bodyPr>
          <a:lstStyle/>
          <a:p>
            <a:pPr algn="l" rtl="0">
              <a:defRPr lang="en-US" sz="3900" b="1">
                <a:solidFill>
                  <a:srgbClr val="1E2B53"/>
                </a:solidFill>
                <a:latin typeface="Arial"/>
                <a:ea typeface="Arial"/>
                <a:cs typeface="Arial"/>
              </a:defRPr>
            </a:pPr>
            <a:r>
              <a:rPr lang="en-US" sz="3900" b="1">
                <a:solidFill>
                  <a:srgbClr val="1E2B53"/>
                </a:solidFill>
                <a:latin typeface="Arial"/>
                <a:ea typeface="Arial"/>
                <a:cs typeface="Arial"/>
              </a:rPr>
              <a:t>65%</a:t>
            </a:r>
          </a:p>
        </p:txBody>
      </p:sp>
      <p:sp>
        <p:nvSpPr>
          <p:cNvPr id="6" name="Rectangle 5">
            <a:extLst>
              <a:ext uri="{FF2B5EF4-FFF2-40B4-BE49-F238E27FC236}">
                <a16:creationId xmlns:a16="http://schemas.microsoft.com/office/drawing/2014/main" id="{37343613-9A8E-4739-89B6-188E2312E846}"/>
              </a:ext>
            </a:extLst>
          </p:cNvPr>
          <p:cNvSpPr>
            <a:spLocks noGrp="1"/>
          </p:cNvSpPr>
          <p:nvPr/>
        </p:nvSpPr>
        <p:spPr>
          <a:xfrm>
            <a:off x="9248775" y="2457450"/>
            <a:ext cx="2266950" cy="742950"/>
          </a:xfrm>
          <a:prstGeom prst="rect">
            <a:avLst/>
          </a:prstGeom>
          <a:noFill/>
          <a:ln w="0">
            <a:noFill/>
          </a:ln>
        </p:spPr>
        <p:txBody>
          <a:bodyPr wrap="square" lIns="0" tIns="0" rIns="0" bIns="0" anchor="t">
            <a:noAutofit/>
          </a:bodyPr>
          <a:lstStyle/>
          <a:p>
            <a:pPr algn="l" rtl="0">
              <a:defRPr lang="en-US" sz="1875" b="0">
                <a:solidFill>
                  <a:srgbClr val="1E2B53"/>
                </a:solidFill>
                <a:latin typeface="Arial"/>
                <a:ea typeface="Arial"/>
                <a:cs typeface="Arial"/>
              </a:defRPr>
            </a:pPr>
            <a:r>
              <a:rPr lang="en-US" sz="1875" b="0">
                <a:solidFill>
                  <a:srgbClr val="1E2B53"/>
                </a:solidFill>
                <a:latin typeface="Arial"/>
                <a:ea typeface="Arial"/>
                <a:cs typeface="Arial"/>
              </a:rPr>
              <a:t>Dashed outline:</a:t>
            </a:r>
          </a:p>
          <a:p>
            <a:pPr algn="l" rtl="0">
              <a:defRPr lang="en-US" sz="1875" b="0">
                <a:solidFill>
                  <a:srgbClr val="1E2B53"/>
                </a:solidFill>
                <a:latin typeface="Arial"/>
                <a:ea typeface="Arial"/>
                <a:cs typeface="Arial"/>
              </a:defRPr>
            </a:pPr>
            <a:r>
              <a:rPr lang="en-US" sz="1875" b="0">
                <a:solidFill>
                  <a:srgbClr val="1E2B53"/>
                </a:solidFill>
                <a:latin typeface="Arial"/>
                <a:ea typeface="Arial"/>
                <a:cs typeface="Arial"/>
              </a:rPr>
              <a:t>regional target</a:t>
            </a:r>
          </a:p>
        </p:txBody>
      </p:sp>
      <p:sp>
        <p:nvSpPr>
          <p:cNvPr id="7" name="Rectangle 6">
            <a:extLst>
              <a:ext uri="{FF2B5EF4-FFF2-40B4-BE49-F238E27FC236}">
                <a16:creationId xmlns:a16="http://schemas.microsoft.com/office/drawing/2014/main" id="{E207ACE1-E730-4365-9255-E2FA0DCCDD6D}"/>
              </a:ext>
            </a:extLst>
          </p:cNvPr>
          <p:cNvSpPr>
            <a:spLocks noGrp="1"/>
          </p:cNvSpPr>
          <p:nvPr/>
        </p:nvSpPr>
        <p:spPr>
          <a:xfrm>
            <a:off x="9248775" y="3676650"/>
            <a:ext cx="2266950" cy="1362075"/>
          </a:xfrm>
          <a:prstGeom prst="rect">
            <a:avLst/>
          </a:prstGeom>
          <a:noFill/>
          <a:ln w="0">
            <a:noFill/>
          </a:ln>
        </p:spPr>
        <p:txBody>
          <a:bodyPr wrap="square" lIns="0" tIns="0" rIns="0" bIns="0" anchor="t">
            <a:noAutofit/>
          </a:bodyPr>
          <a:lstStyle/>
          <a:p>
            <a:pPr algn="l" rtl="0">
              <a:defRPr lang="en-US" sz="2325" b="1">
                <a:solidFill>
                  <a:srgbClr val="D9534F"/>
                </a:solidFill>
                <a:latin typeface="Arial"/>
                <a:ea typeface="Arial"/>
                <a:cs typeface="Arial"/>
              </a:defRPr>
            </a:pPr>
            <a:r>
              <a:rPr lang="en-US" sz="2325" b="1">
                <a:solidFill>
                  <a:srgbClr val="D9534F"/>
                </a:solidFill>
                <a:latin typeface="Arial"/>
                <a:ea typeface="Arial"/>
                <a:cs typeface="Arial"/>
              </a:rPr>
              <a:t>Najran: 60.9%</a:t>
            </a:r>
          </a:p>
          <a:p>
            <a:pPr algn="l" rtl="0">
              <a:defRPr lang="en-US" sz="2325" b="1">
                <a:solidFill>
                  <a:srgbClr val="D9534F"/>
                </a:solidFill>
                <a:latin typeface="Arial"/>
                <a:ea typeface="Arial"/>
                <a:cs typeface="Arial"/>
              </a:defRPr>
            </a:pPr>
            <a:r>
              <a:rPr lang="en-US" sz="2325" b="1">
                <a:solidFill>
                  <a:srgbClr val="D9534F"/>
                </a:solidFill>
                <a:latin typeface="Arial"/>
                <a:ea typeface="Arial"/>
                <a:cs typeface="Arial"/>
              </a:rPr>
              <a:t>Largest gap</a:t>
            </a:r>
          </a:p>
          <a:p>
            <a:pPr algn="l" rtl="0">
              <a:defRPr lang="en-US" sz="2325" b="1">
                <a:solidFill>
                  <a:srgbClr val="D9534F"/>
                </a:solidFill>
                <a:latin typeface="Arial"/>
                <a:ea typeface="Arial"/>
                <a:cs typeface="Arial"/>
              </a:defRPr>
            </a:pPr>
            <a:r>
              <a:rPr lang="en-US" sz="2325" b="1">
                <a:solidFill>
                  <a:srgbClr val="D9534F"/>
                </a:solidFill>
                <a:latin typeface="Arial"/>
                <a:ea typeface="Arial"/>
                <a:cs typeface="Arial"/>
              </a:rPr>
              <a:t>4.1 pp</a:t>
            </a:r>
          </a:p>
        </p:txBody>
      </p:sp>
      <p:sp>
        <p:nvSpPr>
          <p:cNvPr id="8" name="Rectangle 7">
            <a:extLst>
              <a:ext uri="{FF2B5EF4-FFF2-40B4-BE49-F238E27FC236}">
                <a16:creationId xmlns:a16="http://schemas.microsoft.com/office/drawing/2014/main" id="{865F8A12-B71E-466C-8B6E-1EE0CB5B2748}"/>
              </a:ext>
            </a:extLst>
          </p:cNvPr>
          <p:cNvSpPr>
            <a:spLocks noGrp="1"/>
          </p:cNvSpPr>
          <p:nvPr/>
        </p:nvSpPr>
        <p:spPr>
          <a:xfrm>
            <a:off x="9144000" y="5238750"/>
            <a:ext cx="2381250" cy="895350"/>
          </a:xfrm>
          <a:prstGeom prst="rect">
            <a:avLst/>
          </a:prstGeom>
          <a:noFill/>
          <a:ln w="0">
            <a:noFill/>
          </a:ln>
        </p:spPr>
        <p:txBody>
          <a:bodyPr wrap="square" lIns="0" tIns="0" rIns="0" bIns="0" anchor="t">
            <a:noAutofit/>
          </a:bodyPr>
          <a:lstStyle/>
          <a:p>
            <a:pPr algn="l" rtl="0">
              <a:defRPr lang="en-US" sz="1650" b="0">
                <a:solidFill>
                  <a:srgbClr val="637080"/>
                </a:solidFill>
                <a:latin typeface="Arial"/>
                <a:ea typeface="Arial"/>
                <a:cs typeface="Arial"/>
              </a:defRPr>
            </a:pPr>
            <a:r>
              <a:rPr lang="en-US" sz="1650" b="0">
                <a:solidFill>
                  <a:srgbClr val="637080"/>
                </a:solidFill>
                <a:latin typeface="Arial"/>
                <a:ea typeface="Arial"/>
                <a:cs typeface="Arial"/>
              </a:rPr>
              <a:t>Red: below target</a:t>
            </a:r>
          </a:p>
          <a:p>
            <a:pPr algn="l" rtl="0">
              <a:defRPr lang="en-US" sz="1650" b="0">
                <a:solidFill>
                  <a:srgbClr val="637080"/>
                </a:solidFill>
                <a:latin typeface="Arial"/>
                <a:ea typeface="Arial"/>
                <a:cs typeface="Arial"/>
              </a:defRPr>
            </a:pPr>
            <a:r>
              <a:rPr lang="en-US" sz="1650" b="0">
                <a:solidFill>
                  <a:srgbClr val="637080"/>
                </a:solidFill>
                <a:latin typeface="Arial"/>
                <a:ea typeface="Arial"/>
                <a:cs typeface="Arial"/>
              </a:rPr>
              <a:t>Green: at or above target</a:t>
            </a:r>
          </a:p>
        </p:txBody>
      </p:sp>
    </p:spTree>
    <p:extLst>
      <p:ext uri="{BB962C8B-B14F-4D97-AF65-F5344CB8AC3E}">
        <p14:creationId xmlns:p14="http://schemas.microsoft.com/office/powerpoint/2010/main" val="567548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D9A4BA7-57BF-4B1F-AF98-558D38D17CB1}"/>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lgn="l" rtl="0">
              <a:defRPr lang="en-US" sz="3300" b="1">
                <a:solidFill>
                  <a:srgbClr val="1E2B53"/>
                </a:solidFill>
                <a:latin typeface="Arial"/>
                <a:ea typeface="Arial"/>
                <a:cs typeface="Arial"/>
              </a:defRPr>
            </a:pPr>
            <a:r>
              <a:rPr lang="en-US" sz="3300" b="1">
                <a:solidFill>
                  <a:srgbClr val="1E2B53"/>
                </a:solidFill>
                <a:latin typeface="Arial"/>
                <a:ea typeface="Arial"/>
                <a:cs typeface="Arial"/>
              </a:rPr>
              <a:t>Three regions account for 67.6% of the weighted gap</a:t>
            </a:r>
          </a:p>
        </p:txBody>
      </p:sp>
      <p:sp>
        <p:nvSpPr>
          <p:cNvPr id="2" name="Rectangle 1">
            <a:extLst>
              <a:ext uri="{FF2B5EF4-FFF2-40B4-BE49-F238E27FC236}">
                <a16:creationId xmlns:a16="http://schemas.microsoft.com/office/drawing/2014/main" id="{FF397CD5-A705-4AB7-9BFE-A74277508921}"/>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4 / 7</a:t>
            </a:r>
          </a:p>
        </p:txBody>
      </p:sp>
      <p:sp>
        <p:nvSpPr>
          <p:cNvPr id="3" name="Rectangle 2">
            <a:extLst>
              <a:ext uri="{FF2B5EF4-FFF2-40B4-BE49-F238E27FC236}">
                <a16:creationId xmlns:a16="http://schemas.microsoft.com/office/drawing/2014/main" id="{0CFAA07D-20A3-4889-92AB-DB5AC4DBE85C}"/>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dirty="0">
                <a:solidFill>
                  <a:srgbClr val="637080"/>
                </a:solidFill>
                <a:latin typeface="Arial"/>
                <a:ea typeface="Arial"/>
                <a:cs typeface="Arial"/>
              </a:rPr>
              <a:t>, synthetic training data,</a:t>
            </a:r>
          </a:p>
        </p:txBody>
      </p:sp>
      <p:graphicFrame>
        <p:nvGraphicFramePr>
          <p:cNvPr id="12" name="Chart"/>
          <p:cNvGraphicFramePr/>
          <p:nvPr/>
        </p:nvGraphicFramePr>
        <p:xfrm>
          <a:off x="609600" y="1676400"/>
          <a:ext cx="781050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68B34C78-58D2-4A77-B85D-614A095A1B73}"/>
              </a:ext>
            </a:extLst>
          </p:cNvPr>
          <p:cNvSpPr>
            <a:spLocks noGrp="1"/>
          </p:cNvSpPr>
          <p:nvPr/>
        </p:nvSpPr>
        <p:spPr>
          <a:xfrm>
            <a:off x="8753475" y="2028825"/>
            <a:ext cx="2752725" cy="819150"/>
          </a:xfrm>
          <a:prstGeom prst="rect">
            <a:avLst/>
          </a:prstGeom>
          <a:noFill/>
          <a:ln w="0">
            <a:noFill/>
          </a:ln>
        </p:spPr>
        <p:txBody>
          <a:bodyPr wrap="square" lIns="0" tIns="0" rIns="0" bIns="0" anchor="t">
            <a:noAutofit/>
          </a:bodyPr>
          <a:lstStyle/>
          <a:p>
            <a:pPr algn="l" rtl="0">
              <a:defRPr lang="en-US" sz="4950" b="1">
                <a:solidFill>
                  <a:srgbClr val="2E8B57"/>
                </a:solidFill>
                <a:latin typeface="Arial"/>
                <a:ea typeface="Arial"/>
                <a:cs typeface="Arial"/>
              </a:defRPr>
            </a:pPr>
            <a:r>
              <a:rPr lang="en-US" sz="4950" b="1">
                <a:solidFill>
                  <a:srgbClr val="2E8B57"/>
                </a:solidFill>
                <a:latin typeface="Arial"/>
                <a:ea typeface="Arial"/>
                <a:cs typeface="Arial"/>
              </a:rPr>
              <a:t>67.6%</a:t>
            </a:r>
          </a:p>
        </p:txBody>
      </p:sp>
      <p:sp>
        <p:nvSpPr>
          <p:cNvPr id="6" name="Rectangle 5">
            <a:extLst>
              <a:ext uri="{FF2B5EF4-FFF2-40B4-BE49-F238E27FC236}">
                <a16:creationId xmlns:a16="http://schemas.microsoft.com/office/drawing/2014/main" id="{E5783A72-A2CC-47E5-826D-751D2284CE13}"/>
              </a:ext>
            </a:extLst>
          </p:cNvPr>
          <p:cNvSpPr>
            <a:spLocks noGrp="1"/>
          </p:cNvSpPr>
          <p:nvPr/>
        </p:nvSpPr>
        <p:spPr>
          <a:xfrm>
            <a:off x="8753475" y="3009900"/>
            <a:ext cx="2752725" cy="1438275"/>
          </a:xfrm>
          <a:prstGeom prst="rect">
            <a:avLst/>
          </a:prstGeom>
          <a:noFill/>
          <a:ln w="0">
            <a:noFill/>
          </a:ln>
        </p:spPr>
        <p:txBody>
          <a:bodyPr wrap="square" lIns="0" tIns="0" rIns="0" bIns="0" anchor="t">
            <a:noAutofit/>
          </a:bodyPr>
          <a:lstStyle/>
          <a:p>
            <a:pPr algn="l" rtl="0">
              <a:defRPr lang="en-US" sz="2250" b="1">
                <a:solidFill>
                  <a:srgbClr val="1E2B53"/>
                </a:solidFill>
                <a:latin typeface="Arial"/>
                <a:ea typeface="Arial"/>
                <a:cs typeface="Arial"/>
              </a:defRPr>
            </a:pPr>
            <a:r>
              <a:rPr lang="en-US" sz="2250" b="1">
                <a:solidFill>
                  <a:srgbClr val="1E2B53"/>
                </a:solidFill>
                <a:latin typeface="Arial"/>
                <a:ea typeface="Arial"/>
                <a:cs typeface="Arial"/>
              </a:rPr>
              <a:t>Najran</a:t>
            </a:r>
          </a:p>
          <a:p>
            <a:pPr algn="l" rtl="0">
              <a:defRPr lang="en-US" sz="2250" b="1">
                <a:solidFill>
                  <a:srgbClr val="1E2B53"/>
                </a:solidFill>
                <a:latin typeface="Arial"/>
                <a:ea typeface="Arial"/>
                <a:cs typeface="Arial"/>
              </a:defRPr>
            </a:pPr>
            <a:r>
              <a:rPr lang="en-US" sz="2250" b="1">
                <a:solidFill>
                  <a:srgbClr val="1E2B53"/>
                </a:solidFill>
                <a:latin typeface="Arial"/>
                <a:ea typeface="Arial"/>
                <a:cs typeface="Arial"/>
              </a:rPr>
              <a:t>Northern Borders</a:t>
            </a:r>
          </a:p>
          <a:p>
            <a:pPr algn="l" rtl="0">
              <a:defRPr lang="en-US" sz="2250" b="1">
                <a:solidFill>
                  <a:srgbClr val="1E2B53"/>
                </a:solidFill>
                <a:latin typeface="Arial"/>
                <a:ea typeface="Arial"/>
                <a:cs typeface="Arial"/>
              </a:defRPr>
            </a:pPr>
            <a:r>
              <a:rPr lang="en-US" sz="2250" b="1">
                <a:solidFill>
                  <a:srgbClr val="1E2B53"/>
                </a:solidFill>
                <a:latin typeface="Arial"/>
                <a:ea typeface="Arial"/>
                <a:cs typeface="Arial"/>
              </a:rPr>
              <a:t>Al-Baha</a:t>
            </a:r>
          </a:p>
        </p:txBody>
      </p:sp>
      <p:sp>
        <p:nvSpPr>
          <p:cNvPr id="7" name="Rectangle 6">
            <a:extLst>
              <a:ext uri="{FF2B5EF4-FFF2-40B4-BE49-F238E27FC236}">
                <a16:creationId xmlns:a16="http://schemas.microsoft.com/office/drawing/2014/main" id="{225B4D77-A11B-48A1-B69D-172D93ACB070}"/>
              </a:ext>
            </a:extLst>
          </p:cNvPr>
          <p:cNvSpPr>
            <a:spLocks noGrp="1"/>
          </p:cNvSpPr>
          <p:nvPr/>
        </p:nvSpPr>
        <p:spPr>
          <a:xfrm>
            <a:off x="8629650" y="4791075"/>
            <a:ext cx="2876550" cy="904875"/>
          </a:xfrm>
          <a:prstGeom prst="rect">
            <a:avLst/>
          </a:prstGeom>
          <a:noFill/>
          <a:ln w="0">
            <a:noFill/>
          </a:ln>
        </p:spPr>
        <p:txBody>
          <a:bodyPr wrap="square" lIns="0" tIns="0" rIns="0" bIns="0" anchor="t">
            <a:noAutofit/>
          </a:bodyPr>
          <a:lstStyle/>
          <a:p>
            <a:pPr algn="l" rtl="0">
              <a:defRPr lang="en-US" sz="1800" b="0">
                <a:solidFill>
                  <a:srgbClr val="637080"/>
                </a:solidFill>
                <a:latin typeface="Arial"/>
                <a:ea typeface="Arial"/>
                <a:cs typeface="Arial"/>
              </a:defRPr>
            </a:pPr>
            <a:r>
              <a:rPr lang="en-US" sz="1800" b="0">
                <a:solidFill>
                  <a:srgbClr val="637080"/>
                </a:solidFill>
                <a:latin typeface="Arial"/>
                <a:ea typeface="Arial"/>
                <a:cs typeface="Arial"/>
              </a:rPr>
              <a:t>Jazan accounts for 16.4%</a:t>
            </a:r>
          </a:p>
          <a:p>
            <a:pPr algn="l" rtl="0">
              <a:defRPr lang="en-US" sz="1800" b="0">
                <a:solidFill>
                  <a:srgbClr val="637080"/>
                </a:solidFill>
                <a:latin typeface="Arial"/>
                <a:ea typeface="Arial"/>
                <a:cs typeface="Arial"/>
              </a:defRPr>
            </a:pPr>
            <a:r>
              <a:rPr lang="en-US" sz="1800" b="0">
                <a:solidFill>
                  <a:srgbClr val="637080"/>
                </a:solidFill>
                <a:latin typeface="Arial"/>
                <a:ea typeface="Arial"/>
                <a:cs typeface="Arial"/>
              </a:rPr>
              <a:t>and retains a funding share</a:t>
            </a:r>
          </a:p>
        </p:txBody>
      </p:sp>
      <p:sp>
        <p:nvSpPr>
          <p:cNvPr id="8" name="Rectangle 7">
            <a:extLst>
              <a:ext uri="{FF2B5EF4-FFF2-40B4-BE49-F238E27FC236}">
                <a16:creationId xmlns:a16="http://schemas.microsoft.com/office/drawing/2014/main" id="{39141264-BFA7-4035-8A61-239C8FD6C3EA}"/>
              </a:ext>
            </a:extLst>
          </p:cNvPr>
          <p:cNvSpPr>
            <a:spLocks noGrp="1"/>
          </p:cNvSpPr>
          <p:nvPr/>
        </p:nvSpPr>
        <p:spPr>
          <a:xfrm>
            <a:off x="609600" y="5772150"/>
            <a:ext cx="10972800" cy="447675"/>
          </a:xfrm>
          <a:prstGeom prst="rect">
            <a:avLst/>
          </a:prstGeom>
          <a:noFill/>
          <a:ln w="0">
            <a:noFill/>
          </a:ln>
        </p:spPr>
        <p:txBody>
          <a:bodyPr wrap="square" lIns="0" tIns="0" rIns="0" bIns="0" anchor="t">
            <a:noAutofit/>
          </a:bodyPr>
          <a:lstStyle/>
          <a:p>
            <a:pPr algn="l" rtl="0">
              <a:defRPr lang="en-US" sz="1575" b="0">
                <a:solidFill>
                  <a:srgbClr val="637080"/>
                </a:solidFill>
                <a:latin typeface="Arial"/>
                <a:ea typeface="Arial"/>
                <a:cs typeface="Arial"/>
              </a:defRPr>
            </a:pPr>
            <a:r>
              <a:rPr lang="en-US" sz="1575" b="0">
                <a:solidFill>
                  <a:srgbClr val="637080"/>
                </a:solidFill>
                <a:latin typeface="Arial"/>
                <a:ea typeface="Arial"/>
                <a:cs typeface="Arial"/>
              </a:rPr>
              <a:t>Weighted gap = gap to 65% × user weights. Bars show each region's share of the total</a:t>
            </a:r>
          </a:p>
        </p:txBody>
      </p:sp>
    </p:spTree>
    <p:extLst>
      <p:ext uri="{BB962C8B-B14F-4D97-AF65-F5344CB8AC3E}">
        <p14:creationId xmlns:p14="http://schemas.microsoft.com/office/powerpoint/2010/main" val="46022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1B2D1F-9861-4682-96A7-F520CF547AA8}"/>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lgn="l" rtl="0">
              <a:defRPr lang="en-US" sz="3300" b="1">
                <a:solidFill>
                  <a:srgbClr val="1E2B53"/>
                </a:solidFill>
                <a:latin typeface="Arial"/>
                <a:ea typeface="Arial"/>
                <a:cs typeface="Arial"/>
              </a:defRPr>
            </a:pPr>
            <a:r>
              <a:rPr lang="en-US" sz="3300" b="1">
                <a:solidFill>
                  <a:srgbClr val="1E2B53"/>
                </a:solidFill>
                <a:latin typeface="Arial"/>
                <a:ea typeface="Arial"/>
                <a:cs typeface="Arial"/>
              </a:rPr>
              <a:t>Funding by gap supports all eight lagging regions</a:t>
            </a:r>
          </a:p>
        </p:txBody>
      </p:sp>
      <p:sp>
        <p:nvSpPr>
          <p:cNvPr id="2" name="Rectangle 1">
            <a:extLst>
              <a:ext uri="{FF2B5EF4-FFF2-40B4-BE49-F238E27FC236}">
                <a16:creationId xmlns:a16="http://schemas.microsoft.com/office/drawing/2014/main" id="{241BF937-0B4D-4CB0-B8F4-CEB97029BF20}"/>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5 / 7</a:t>
            </a:r>
          </a:p>
        </p:txBody>
      </p:sp>
      <p:sp>
        <p:nvSpPr>
          <p:cNvPr id="3" name="Rectangle 2">
            <a:extLst>
              <a:ext uri="{FF2B5EF4-FFF2-40B4-BE49-F238E27FC236}">
                <a16:creationId xmlns:a16="http://schemas.microsoft.com/office/drawing/2014/main" id="{DD230FA2-B7BE-4223-8185-D95B5AA6A924}"/>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dirty="0">
                <a:solidFill>
                  <a:srgbClr val="637080"/>
                </a:solidFill>
                <a:latin typeface="Arial"/>
                <a:ea typeface="Arial"/>
                <a:cs typeface="Arial"/>
              </a:rPr>
              <a:t>, synthetic training data, </a:t>
            </a:r>
          </a:p>
        </p:txBody>
      </p:sp>
      <p:graphicFrame>
        <p:nvGraphicFramePr>
          <p:cNvPr id="10" name="Table 9"/>
          <p:cNvGraphicFramePr/>
          <p:nvPr/>
        </p:nvGraphicFramePr>
        <p:xfrm>
          <a:off x="609600" y="1743075"/>
          <a:ext cx="10972800" cy="2933700"/>
        </p:xfrm>
        <a:graphic>
          <a:graphicData uri="http://schemas.openxmlformats.org/drawingml/2006/table">
            <a:tbl>
              <a:tblPr/>
              <a:tblGrid>
                <a:gridCol w="3638550">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733425">
                <a:tc>
                  <a:txBody>
                    <a:bodyPr/>
                    <a:lstStyle/>
                    <a:p>
                      <a:pPr algn="l" rtl="0"/>
                      <a:r>
                        <a:rPr lang="en-US" sz="1875" b="1">
                          <a:solidFill>
                            <a:srgbClr val="FFFFFF"/>
                          </a:solidFill>
                          <a:latin typeface="Arial"/>
                          <a:ea typeface="Arial"/>
                          <a:cs typeface="Arial"/>
                        </a:rPr>
                        <a:t>Option</a:t>
                      </a:r>
                    </a:p>
                  </a:txBody>
                  <a:tcPr anchor="ctr">
                    <a:solidFill>
                      <a:srgbClr val="1E2B53"/>
                    </a:solidFill>
                  </a:tcPr>
                </a:tc>
                <a:tc>
                  <a:txBody>
                    <a:bodyPr/>
                    <a:lstStyle/>
                    <a:p>
                      <a:pPr algn="l" rtl="0"/>
                      <a:r>
                        <a:rPr lang="en-US" sz="1875" b="1">
                          <a:solidFill>
                            <a:srgbClr val="FFFFFF"/>
                          </a:solidFill>
                          <a:latin typeface="Arial"/>
                          <a:ea typeface="Arial"/>
                          <a:cs typeface="Arial"/>
                        </a:rPr>
                        <a:t>Use of SAR 40M</a:t>
                      </a:r>
                    </a:p>
                  </a:txBody>
                  <a:tcPr anchor="ctr">
                    <a:solidFill>
                      <a:srgbClr val="1E2B53"/>
                    </a:solidFill>
                  </a:tcPr>
                </a:tc>
                <a:tc>
                  <a:txBody>
                    <a:bodyPr/>
                    <a:lstStyle/>
                    <a:p>
                      <a:pPr algn="l" rtl="0"/>
                      <a:r>
                        <a:rPr lang="en-US" sz="1875" b="1">
                          <a:solidFill>
                            <a:srgbClr val="FFFFFF"/>
                          </a:solidFill>
                          <a:latin typeface="Arial"/>
                          <a:ea typeface="Arial"/>
                          <a:cs typeface="Arial"/>
                        </a:rPr>
                        <a:t>Tradeoff</a:t>
                      </a:r>
                    </a:p>
                  </a:txBody>
                  <a:tcPr anchor="ctr">
                    <a:solidFill>
                      <a:srgbClr val="1E2B53"/>
                    </a:solidFill>
                  </a:tcPr>
                </a:tc>
                <a:extLst>
                  <a:ext uri="{0D108BD9-81ED-4DB2-BD59-A6C34878D82A}">
                    <a16:rowId xmlns:a16="http://schemas.microsoft.com/office/drawing/2014/main" val="10000"/>
                  </a:ext>
                </a:extLst>
              </a:tr>
              <a:tr h="733425">
                <a:tc>
                  <a:txBody>
                    <a:bodyPr/>
                    <a:lstStyle/>
                    <a:p>
                      <a:pPr algn="l" rtl="0"/>
                      <a:r>
                        <a:rPr lang="en-US" sz="1875" b="0">
                          <a:solidFill>
                            <a:srgbClr val="1E2B53"/>
                          </a:solidFill>
                          <a:latin typeface="Arial"/>
                          <a:ea typeface="Arial"/>
                          <a:cs typeface="Arial"/>
                        </a:rPr>
                        <a:t>Equal funding across 13 regions</a:t>
                      </a:r>
                    </a:p>
                  </a:txBody>
                  <a:tcPr anchor="ctr">
                    <a:solidFill>
                      <a:srgbClr val="FFFFFF"/>
                    </a:solidFill>
                  </a:tcPr>
                </a:tc>
                <a:tc>
                  <a:txBody>
                    <a:bodyPr/>
                    <a:lstStyle/>
                    <a:p>
                      <a:pPr algn="l" rtl="0"/>
                      <a:r>
                        <a:rPr lang="en-US" sz="1875" b="0">
                          <a:solidFill>
                            <a:srgbClr val="1E2B53"/>
                          </a:solidFill>
                          <a:latin typeface="Arial"/>
                          <a:ea typeface="Arial"/>
                          <a:cs typeface="Arial"/>
                        </a:rPr>
                        <a:t>About SAR 3.08M per region</a:t>
                      </a:r>
                    </a:p>
                  </a:txBody>
                  <a:tcPr anchor="ctr">
                    <a:solidFill>
                      <a:srgbClr val="FFFFFF"/>
                    </a:solidFill>
                  </a:tcPr>
                </a:tc>
                <a:tc>
                  <a:txBody>
                    <a:bodyPr/>
                    <a:lstStyle/>
                    <a:p>
                      <a:pPr algn="l" rtl="0"/>
                      <a:r>
                        <a:rPr lang="en-US" sz="1875" b="0">
                          <a:solidFill>
                            <a:srgbClr val="1E2B53"/>
                          </a:solidFill>
                          <a:latin typeface="Arial"/>
                          <a:ea typeface="Arial"/>
                          <a:cs typeface="Arial"/>
                        </a:rPr>
                        <a:t>Funds regions already above target</a:t>
                      </a:r>
                    </a:p>
                  </a:txBody>
                  <a:tcPr anchor="ctr">
                    <a:solidFill>
                      <a:srgbClr val="FFFFFF"/>
                    </a:solidFill>
                  </a:tcPr>
                </a:tc>
                <a:extLst>
                  <a:ext uri="{0D108BD9-81ED-4DB2-BD59-A6C34878D82A}">
                    <a16:rowId xmlns:a16="http://schemas.microsoft.com/office/drawing/2014/main" val="10001"/>
                  </a:ext>
                </a:extLst>
              </a:tr>
              <a:tr h="733425">
                <a:tc>
                  <a:txBody>
                    <a:bodyPr/>
                    <a:lstStyle/>
                    <a:p>
                      <a:pPr algn="l" rtl="0"/>
                      <a:r>
                        <a:rPr lang="en-US" sz="1875" b="0">
                          <a:solidFill>
                            <a:srgbClr val="1E2B53"/>
                          </a:solidFill>
                          <a:latin typeface="Arial"/>
                          <a:ea typeface="Arial"/>
                          <a:cs typeface="Arial"/>
                        </a:rPr>
                        <a:t>Full focus on three regions</a:t>
                      </a:r>
                    </a:p>
                  </a:txBody>
                  <a:tcPr anchor="ctr">
                    <a:solidFill>
                      <a:srgbClr val="FFFFFF"/>
                    </a:solidFill>
                  </a:tcPr>
                </a:tc>
                <a:tc>
                  <a:txBody>
                    <a:bodyPr/>
                    <a:lstStyle/>
                    <a:p>
                      <a:pPr algn="l" rtl="0"/>
                      <a:r>
                        <a:rPr lang="en-US" sz="1875" b="0">
                          <a:solidFill>
                            <a:srgbClr val="1E2B53"/>
                          </a:solidFill>
                          <a:latin typeface="Arial"/>
                          <a:ea typeface="Arial"/>
                          <a:cs typeface="Arial"/>
                        </a:rPr>
                        <a:t>Fund only the top three regions</a:t>
                      </a:r>
                    </a:p>
                  </a:txBody>
                  <a:tcPr anchor="ctr">
                    <a:solidFill>
                      <a:srgbClr val="FFFFFF"/>
                    </a:solidFill>
                  </a:tcPr>
                </a:tc>
                <a:tc>
                  <a:txBody>
                    <a:bodyPr/>
                    <a:lstStyle/>
                    <a:p>
                      <a:pPr algn="l" rtl="0"/>
                      <a:r>
                        <a:rPr lang="en-US" sz="1875" b="0">
                          <a:solidFill>
                            <a:srgbClr val="1E2B53"/>
                          </a:solidFill>
                          <a:latin typeface="Arial"/>
                          <a:ea typeface="Arial"/>
                          <a:cs typeface="Arial"/>
                        </a:rPr>
                        <a:t>Leaves Jazan and other gaps unfunded</a:t>
                      </a:r>
                    </a:p>
                  </a:txBody>
                  <a:tcPr anchor="ctr">
                    <a:solidFill>
                      <a:srgbClr val="FFFFFF"/>
                    </a:solidFill>
                  </a:tcPr>
                </a:tc>
                <a:extLst>
                  <a:ext uri="{0D108BD9-81ED-4DB2-BD59-A6C34878D82A}">
                    <a16:rowId xmlns:a16="http://schemas.microsoft.com/office/drawing/2014/main" val="10002"/>
                  </a:ext>
                </a:extLst>
              </a:tr>
              <a:tr h="733425">
                <a:tc>
                  <a:txBody>
                    <a:bodyPr/>
                    <a:lstStyle/>
                    <a:p>
                      <a:pPr algn="l" rtl="0"/>
                      <a:r>
                        <a:rPr lang="en-US" sz="1875" b="0">
                          <a:solidFill>
                            <a:srgbClr val="1E2B53"/>
                          </a:solidFill>
                          <a:latin typeface="Arial"/>
                          <a:ea typeface="Arial"/>
                          <a:cs typeface="Arial"/>
                        </a:rPr>
                        <a:t>Weight funding across eight regions</a:t>
                      </a:r>
                    </a:p>
                  </a:txBody>
                  <a:tcPr anchor="ctr">
                    <a:solidFill>
                      <a:srgbClr val="FFFFFF"/>
                    </a:solidFill>
                  </a:tcPr>
                </a:tc>
                <a:tc>
                  <a:txBody>
                    <a:bodyPr/>
                    <a:lstStyle/>
                    <a:p>
                      <a:pPr algn="l" rtl="0"/>
                      <a:r>
                        <a:rPr lang="en-US" sz="1875" b="0">
                          <a:solidFill>
                            <a:srgbClr val="1E2B53"/>
                          </a:solidFill>
                          <a:latin typeface="Arial"/>
                          <a:ea typeface="Arial"/>
                          <a:cs typeface="Arial"/>
                        </a:rPr>
                        <a:t>Each region receives its gap share</a:t>
                      </a:r>
                    </a:p>
                  </a:txBody>
                  <a:tcPr anchor="ctr">
                    <a:solidFill>
                      <a:srgbClr val="FFFFFF"/>
                    </a:solidFill>
                  </a:tcPr>
                </a:tc>
                <a:tc>
                  <a:txBody>
                    <a:bodyPr/>
                    <a:lstStyle/>
                    <a:p>
                      <a:pPr algn="l" rtl="0"/>
                      <a:r>
                        <a:rPr lang="en-US" sz="1875" b="0">
                          <a:solidFill>
                            <a:srgbClr val="1E2B53"/>
                          </a:solidFill>
                          <a:latin typeface="Arial"/>
                          <a:ea typeface="Arial"/>
                          <a:cs typeface="Arial"/>
                        </a:rPr>
                        <a:t>Requires a review of delivery costs</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671398AE-BF85-4BB6-A372-D7A22A23E47C}"/>
              </a:ext>
            </a:extLst>
          </p:cNvPr>
          <p:cNvSpPr>
            <a:spLocks noGrp="1"/>
          </p:cNvSpPr>
          <p:nvPr/>
        </p:nvSpPr>
        <p:spPr>
          <a:xfrm>
            <a:off x="609600" y="5038725"/>
            <a:ext cx="10972800" cy="504825"/>
          </a:xfrm>
          <a:prstGeom prst="rect">
            <a:avLst/>
          </a:prstGeom>
          <a:noFill/>
          <a:ln w="0">
            <a:noFill/>
          </a:ln>
        </p:spPr>
        <p:txBody>
          <a:bodyPr wrap="square" lIns="0" tIns="0" rIns="0" bIns="0" anchor="t">
            <a:noAutofit/>
          </a:bodyPr>
          <a:lstStyle/>
          <a:p>
            <a:pPr algn="l" rtl="0">
              <a:defRPr lang="en-US" sz="2400" b="1">
                <a:solidFill>
                  <a:srgbClr val="2E8B57"/>
                </a:solidFill>
                <a:latin typeface="Arial"/>
                <a:ea typeface="Arial"/>
                <a:cs typeface="Arial"/>
              </a:defRPr>
            </a:pPr>
            <a:r>
              <a:rPr lang="en-US" sz="2400" b="1">
                <a:solidFill>
                  <a:srgbClr val="2E8B57"/>
                </a:solidFill>
                <a:latin typeface="Arial"/>
                <a:ea typeface="Arial"/>
                <a:cs typeface="Arial"/>
              </a:rPr>
              <a:t>Selected option: weighted funding with phased release</a:t>
            </a:r>
          </a:p>
        </p:txBody>
      </p:sp>
      <p:sp>
        <p:nvSpPr>
          <p:cNvPr id="6" name="Rectangle 5">
            <a:extLst>
              <a:ext uri="{FF2B5EF4-FFF2-40B4-BE49-F238E27FC236}">
                <a16:creationId xmlns:a16="http://schemas.microsoft.com/office/drawing/2014/main" id="{0EF9E92F-CBCD-4408-8295-EEF510294D62}"/>
              </a:ext>
            </a:extLst>
          </p:cNvPr>
          <p:cNvSpPr>
            <a:spLocks noGrp="1"/>
          </p:cNvSpPr>
          <p:nvPr/>
        </p:nvSpPr>
        <p:spPr>
          <a:xfrm>
            <a:off x="609600" y="5638800"/>
            <a:ext cx="10972800" cy="447675"/>
          </a:xfrm>
          <a:prstGeom prst="rect">
            <a:avLst/>
          </a:prstGeom>
          <a:noFill/>
          <a:ln w="0">
            <a:noFill/>
          </a:ln>
        </p:spPr>
        <p:txBody>
          <a:bodyPr wrap="square" lIns="0" tIns="0" rIns="0" bIns="0" anchor="t">
            <a:noAutofit/>
          </a:bodyPr>
          <a:lstStyle/>
          <a:p>
            <a:pPr algn="l" rtl="0">
              <a:defRPr lang="en-US" sz="2025" b="0">
                <a:solidFill>
                  <a:srgbClr val="1E2B53"/>
                </a:solidFill>
                <a:latin typeface="Arial"/>
                <a:ea typeface="Arial"/>
                <a:cs typeface="Arial"/>
              </a:defRPr>
            </a:pPr>
            <a:r>
              <a:rPr lang="en-US" sz="2025" b="0">
                <a:solidFill>
                  <a:srgbClr val="1E2B53"/>
                </a:solidFill>
                <a:latin typeface="Arial"/>
                <a:ea typeface="Arial"/>
                <a:cs typeface="Arial"/>
              </a:rPr>
              <a:t>Concentrates priority while covering every region below target</a:t>
            </a:r>
          </a:p>
        </p:txBody>
      </p:sp>
    </p:spTree>
    <p:extLst>
      <p:ext uri="{BB962C8B-B14F-4D97-AF65-F5344CB8AC3E}">
        <p14:creationId xmlns:p14="http://schemas.microsoft.com/office/powerpoint/2010/main" val="114514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A2FF36-A8B1-4C0A-A404-7CA1883082CB}"/>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defRPr lang="en-US" sz="3300" b="1">
                <a:solidFill>
                  <a:srgbClr val="1E2B53"/>
                </a:solidFill>
                <a:latin typeface="Arial"/>
                <a:ea typeface="Arial"/>
                <a:cs typeface="Arial"/>
              </a:defRPr>
            </a:pPr>
            <a:r>
              <a:rPr lang="en-US" sz="3300" b="1" dirty="0">
                <a:solidFill>
                  <a:srgbClr val="1E2B53"/>
                </a:solidFill>
                <a:latin typeface="Arial"/>
                <a:ea typeface="Arial"/>
                <a:cs typeface="Arial"/>
              </a:rPr>
              <a:t>27M SAR for priorities and SAR 13M SAR for the other regions</a:t>
            </a:r>
          </a:p>
        </p:txBody>
      </p:sp>
      <p:sp>
        <p:nvSpPr>
          <p:cNvPr id="2" name="Rectangle 1">
            <a:extLst>
              <a:ext uri="{FF2B5EF4-FFF2-40B4-BE49-F238E27FC236}">
                <a16:creationId xmlns:a16="http://schemas.microsoft.com/office/drawing/2014/main" id="{B2238248-CD17-4C39-92B5-D192A52822FB}"/>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6 / 7</a:t>
            </a:r>
          </a:p>
        </p:txBody>
      </p:sp>
      <p:sp>
        <p:nvSpPr>
          <p:cNvPr id="3" name="Rectangle 2">
            <a:extLst>
              <a:ext uri="{FF2B5EF4-FFF2-40B4-BE49-F238E27FC236}">
                <a16:creationId xmlns:a16="http://schemas.microsoft.com/office/drawing/2014/main" id="{19826183-E143-41C8-A233-D7E6D72CD85E}"/>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dirty="0">
                <a:solidFill>
                  <a:srgbClr val="637080"/>
                </a:solidFill>
                <a:latin typeface="Arial"/>
                <a:ea typeface="Arial"/>
                <a:cs typeface="Arial"/>
              </a:rPr>
              <a:t>, synthetic training data, </a:t>
            </a:r>
          </a:p>
        </p:txBody>
      </p:sp>
      <p:graphicFrame>
        <p:nvGraphicFramePr>
          <p:cNvPr id="13" name="Table 12"/>
          <p:cNvGraphicFramePr/>
          <p:nvPr/>
        </p:nvGraphicFramePr>
        <p:xfrm>
          <a:off x="4476750" y="1628775"/>
          <a:ext cx="7105650" cy="4000497"/>
        </p:xfrm>
        <a:graphic>
          <a:graphicData uri="http://schemas.openxmlformats.org/drawingml/2006/table">
            <a:tbl>
              <a:tblPr/>
              <a:tblGrid>
                <a:gridCol w="2609850">
                  <a:extLst>
                    <a:ext uri="{9D8B030D-6E8A-4147-A177-3AD203B41FA5}">
                      <a16:colId xmlns:a16="http://schemas.microsoft.com/office/drawing/2014/main" val="20000"/>
                    </a:ext>
                  </a:extLst>
                </a:gridCol>
                <a:gridCol w="13906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647700">
                <a:tc>
                  <a:txBody>
                    <a:bodyPr/>
                    <a:lstStyle/>
                    <a:p>
                      <a:pPr algn="l" rtl="0"/>
                      <a:r>
                        <a:rPr lang="en-US" sz="1800" b="1">
                          <a:solidFill>
                            <a:srgbClr val="FFFFFF"/>
                          </a:solidFill>
                          <a:latin typeface="Arial"/>
                          <a:ea typeface="Arial"/>
                          <a:cs typeface="Arial"/>
                        </a:rPr>
                        <a:t>Region</a:t>
                      </a:r>
                    </a:p>
                  </a:txBody>
                  <a:tcPr anchor="ctr">
                    <a:solidFill>
                      <a:srgbClr val="1E2B53"/>
                    </a:solidFill>
                  </a:tcPr>
                </a:tc>
                <a:tc>
                  <a:txBody>
                    <a:bodyPr/>
                    <a:lstStyle/>
                    <a:p>
                      <a:pPr algn="l" rtl="0"/>
                      <a:r>
                        <a:rPr lang="en-US" sz="1800" b="1">
                          <a:solidFill>
                            <a:srgbClr val="FFFFFF"/>
                          </a:solidFill>
                          <a:latin typeface="Arial"/>
                          <a:ea typeface="Arial"/>
                          <a:cs typeface="Arial"/>
                        </a:rPr>
                        <a:t>Adoption</a:t>
                      </a:r>
                    </a:p>
                  </a:txBody>
                  <a:tcPr anchor="ctr">
                    <a:solidFill>
                      <a:srgbClr val="1E2B53"/>
                    </a:solidFill>
                  </a:tcPr>
                </a:tc>
                <a:tc>
                  <a:txBody>
                    <a:bodyPr/>
                    <a:lstStyle/>
                    <a:p>
                      <a:pPr algn="l" rtl="0"/>
                      <a:r>
                        <a:rPr lang="en-US" sz="1800" b="1">
                          <a:solidFill>
                            <a:srgbClr val="FFFFFF"/>
                          </a:solidFill>
                          <a:latin typeface="Arial"/>
                          <a:ea typeface="Arial"/>
                          <a:cs typeface="Arial"/>
                        </a:rPr>
                        <a:t>Gap</a:t>
                      </a:r>
                    </a:p>
                    <a:p>
                      <a:pPr algn="l" rtl="0"/>
                      <a:r>
                        <a:rPr lang="en-US" sz="1800" b="1">
                          <a:solidFill>
                            <a:srgbClr val="FFFFFF"/>
                          </a:solidFill>
                          <a:latin typeface="Arial"/>
                          <a:ea typeface="Arial"/>
                          <a:cs typeface="Arial"/>
                        </a:rPr>
                        <a:t>pp</a:t>
                      </a:r>
                    </a:p>
                  </a:txBody>
                  <a:tcPr anchor="ctr">
                    <a:solidFill>
                      <a:srgbClr val="1E2B53"/>
                    </a:solidFill>
                  </a:tcPr>
                </a:tc>
                <a:tc>
                  <a:txBody>
                    <a:bodyPr/>
                    <a:lstStyle/>
                    <a:p>
                      <a:pPr algn="l" rtl="0"/>
                      <a:r>
                        <a:rPr lang="en-US" sz="1800" b="1">
                          <a:solidFill>
                            <a:srgbClr val="FFFFFF"/>
                          </a:solidFill>
                          <a:latin typeface="Arial"/>
                          <a:ea typeface="Arial"/>
                          <a:cs typeface="Arial"/>
                        </a:rPr>
                        <a:t>Allocation</a:t>
                      </a:r>
                    </a:p>
                    <a:p>
                      <a:pPr algn="l" rtl="0"/>
                      <a:r>
                        <a:rPr lang="en-US" sz="1800" b="1">
                          <a:solidFill>
                            <a:srgbClr val="FFFFFF"/>
                          </a:solidFill>
                          <a:latin typeface="Arial"/>
                          <a:ea typeface="Arial"/>
                          <a:cs typeface="Arial"/>
                        </a:rPr>
                        <a:t>SAR million</a:t>
                      </a:r>
                    </a:p>
                  </a:txBody>
                  <a:tcPr anchor="ctr">
                    <a:solidFill>
                      <a:srgbClr val="1E2B53"/>
                    </a:solidFill>
                  </a:tcPr>
                </a:tc>
                <a:extLst>
                  <a:ext uri="{0D108BD9-81ED-4DB2-BD59-A6C34878D82A}">
                    <a16:rowId xmlns:a16="http://schemas.microsoft.com/office/drawing/2014/main" val="10000"/>
                  </a:ext>
                </a:extLst>
              </a:tr>
              <a:tr h="372533">
                <a:tc>
                  <a:txBody>
                    <a:bodyPr/>
                    <a:lstStyle/>
                    <a:p>
                      <a:pPr algn="l" rtl="0"/>
                      <a:r>
                        <a:rPr lang="en-US" sz="1800" b="0">
                          <a:solidFill>
                            <a:srgbClr val="1E2B53"/>
                          </a:solidFill>
                          <a:latin typeface="Arial"/>
                          <a:ea typeface="Arial"/>
                          <a:cs typeface="Arial"/>
                        </a:rPr>
                        <a:t>Najran</a:t>
                      </a:r>
                    </a:p>
                  </a:txBody>
                  <a:tcPr anchor="ctr">
                    <a:solidFill>
                      <a:srgbClr val="FFFFFF"/>
                    </a:solidFill>
                  </a:tcPr>
                </a:tc>
                <a:tc>
                  <a:txBody>
                    <a:bodyPr/>
                    <a:lstStyle/>
                    <a:p>
                      <a:pPr algn="l" rtl="0"/>
                      <a:r>
                        <a:rPr lang="en-US" sz="1800" b="0">
                          <a:solidFill>
                            <a:srgbClr val="1E2B53"/>
                          </a:solidFill>
                          <a:latin typeface="Arial"/>
                          <a:ea typeface="Arial"/>
                          <a:cs typeface="Arial"/>
                        </a:rPr>
                        <a:t>60.9%</a:t>
                      </a:r>
                    </a:p>
                  </a:txBody>
                  <a:tcPr anchor="ctr">
                    <a:solidFill>
                      <a:srgbClr val="FFFFFF"/>
                    </a:solidFill>
                  </a:tcPr>
                </a:tc>
                <a:tc>
                  <a:txBody>
                    <a:bodyPr/>
                    <a:lstStyle/>
                    <a:p>
                      <a:pPr algn="l" rtl="0"/>
                      <a:r>
                        <a:rPr lang="en-US" sz="1800" b="0">
                          <a:solidFill>
                            <a:srgbClr val="1E2B53"/>
                          </a:solidFill>
                          <a:latin typeface="Arial"/>
                          <a:ea typeface="Arial"/>
                          <a:cs typeface="Arial"/>
                        </a:rPr>
                        <a:t>4.14</a:t>
                      </a:r>
                    </a:p>
                  </a:txBody>
                  <a:tcPr anchor="ctr">
                    <a:solidFill>
                      <a:srgbClr val="FFFFFF"/>
                    </a:solidFill>
                  </a:tcPr>
                </a:tc>
                <a:tc>
                  <a:txBody>
                    <a:bodyPr/>
                    <a:lstStyle/>
                    <a:p>
                      <a:pPr algn="l" rtl="0"/>
                      <a:r>
                        <a:rPr lang="en-US" sz="1800" b="0">
                          <a:solidFill>
                            <a:srgbClr val="1E2B53"/>
                          </a:solidFill>
                          <a:latin typeface="Arial"/>
                          <a:ea typeface="Arial"/>
                          <a:cs typeface="Arial"/>
                        </a:rPr>
                        <a:t>12.4</a:t>
                      </a:r>
                    </a:p>
                  </a:txBody>
                  <a:tcPr anchor="ctr">
                    <a:solidFill>
                      <a:srgbClr val="FFFFFF"/>
                    </a:solidFill>
                  </a:tcPr>
                </a:tc>
                <a:extLst>
                  <a:ext uri="{0D108BD9-81ED-4DB2-BD59-A6C34878D82A}">
                    <a16:rowId xmlns:a16="http://schemas.microsoft.com/office/drawing/2014/main" val="10001"/>
                  </a:ext>
                </a:extLst>
              </a:tr>
              <a:tr h="372533">
                <a:tc>
                  <a:txBody>
                    <a:bodyPr/>
                    <a:lstStyle/>
                    <a:p>
                      <a:pPr algn="l" rtl="0"/>
                      <a:r>
                        <a:rPr lang="en-US" sz="1800" b="0">
                          <a:solidFill>
                            <a:srgbClr val="1E2B53"/>
                          </a:solidFill>
                          <a:latin typeface="Arial"/>
                          <a:ea typeface="Arial"/>
                          <a:cs typeface="Arial"/>
                        </a:rPr>
                        <a:t>Northern Borders</a:t>
                      </a:r>
                    </a:p>
                  </a:txBody>
                  <a:tcPr anchor="ctr">
                    <a:solidFill>
                      <a:srgbClr val="FFFFFF"/>
                    </a:solidFill>
                  </a:tcPr>
                </a:tc>
                <a:tc>
                  <a:txBody>
                    <a:bodyPr/>
                    <a:lstStyle/>
                    <a:p>
                      <a:pPr algn="l" rtl="0"/>
                      <a:r>
                        <a:rPr lang="en-US" sz="1800" b="0">
                          <a:solidFill>
                            <a:srgbClr val="1E2B53"/>
                          </a:solidFill>
                          <a:latin typeface="Arial"/>
                          <a:ea typeface="Arial"/>
                          <a:cs typeface="Arial"/>
                        </a:rPr>
                        <a:t>62.7%</a:t>
                      </a:r>
                    </a:p>
                  </a:txBody>
                  <a:tcPr anchor="ctr">
                    <a:solidFill>
                      <a:srgbClr val="FFFFFF"/>
                    </a:solidFill>
                  </a:tcPr>
                </a:tc>
                <a:tc>
                  <a:txBody>
                    <a:bodyPr/>
                    <a:lstStyle/>
                    <a:p>
                      <a:pPr algn="l" rtl="0"/>
                      <a:r>
                        <a:rPr lang="en-US" sz="1800" b="0">
                          <a:solidFill>
                            <a:srgbClr val="1E2B53"/>
                          </a:solidFill>
                          <a:latin typeface="Arial"/>
                          <a:ea typeface="Arial"/>
                          <a:cs typeface="Arial"/>
                        </a:rPr>
                        <a:t>2.30</a:t>
                      </a:r>
                    </a:p>
                  </a:txBody>
                  <a:tcPr anchor="ctr">
                    <a:solidFill>
                      <a:srgbClr val="FFFFFF"/>
                    </a:solidFill>
                  </a:tcPr>
                </a:tc>
                <a:tc>
                  <a:txBody>
                    <a:bodyPr/>
                    <a:lstStyle/>
                    <a:p>
                      <a:pPr algn="l" rtl="0"/>
                      <a:r>
                        <a:rPr lang="en-US" sz="1800" b="0">
                          <a:solidFill>
                            <a:srgbClr val="1E2B53"/>
                          </a:solidFill>
                          <a:latin typeface="Arial"/>
                          <a:ea typeface="Arial"/>
                          <a:cs typeface="Arial"/>
                        </a:rPr>
                        <a:t>7.8</a:t>
                      </a:r>
                    </a:p>
                  </a:txBody>
                  <a:tcPr anchor="ctr">
                    <a:solidFill>
                      <a:srgbClr val="FFFFFF"/>
                    </a:solidFill>
                  </a:tcPr>
                </a:tc>
                <a:extLst>
                  <a:ext uri="{0D108BD9-81ED-4DB2-BD59-A6C34878D82A}">
                    <a16:rowId xmlns:a16="http://schemas.microsoft.com/office/drawing/2014/main" val="10002"/>
                  </a:ext>
                </a:extLst>
              </a:tr>
              <a:tr h="372533">
                <a:tc>
                  <a:txBody>
                    <a:bodyPr/>
                    <a:lstStyle/>
                    <a:p>
                      <a:pPr algn="l" rtl="0"/>
                      <a:r>
                        <a:rPr lang="en-US" sz="1800" b="0">
                          <a:solidFill>
                            <a:srgbClr val="1E2B53"/>
                          </a:solidFill>
                          <a:latin typeface="Arial"/>
                          <a:ea typeface="Arial"/>
                          <a:cs typeface="Arial"/>
                        </a:rPr>
                        <a:t>Al-Baha</a:t>
                      </a:r>
                    </a:p>
                  </a:txBody>
                  <a:tcPr anchor="ctr">
                    <a:solidFill>
                      <a:srgbClr val="FFFFFF"/>
                    </a:solidFill>
                  </a:tcPr>
                </a:tc>
                <a:tc>
                  <a:txBody>
                    <a:bodyPr/>
                    <a:lstStyle/>
                    <a:p>
                      <a:pPr algn="l" rtl="0"/>
                      <a:r>
                        <a:rPr lang="en-US" sz="1800" b="0">
                          <a:solidFill>
                            <a:srgbClr val="1E2B53"/>
                          </a:solidFill>
                          <a:latin typeface="Arial"/>
                          <a:ea typeface="Arial"/>
                          <a:cs typeface="Arial"/>
                        </a:rPr>
                        <a:t>62.8%</a:t>
                      </a:r>
                    </a:p>
                  </a:txBody>
                  <a:tcPr anchor="ctr">
                    <a:solidFill>
                      <a:srgbClr val="FFFFFF"/>
                    </a:solidFill>
                  </a:tcPr>
                </a:tc>
                <a:tc>
                  <a:txBody>
                    <a:bodyPr/>
                    <a:lstStyle/>
                    <a:p>
                      <a:pPr algn="l" rtl="0"/>
                      <a:r>
                        <a:rPr lang="en-US" sz="1800" b="0">
                          <a:solidFill>
                            <a:srgbClr val="1E2B53"/>
                          </a:solidFill>
                          <a:latin typeface="Arial"/>
                          <a:ea typeface="Arial"/>
                          <a:cs typeface="Arial"/>
                        </a:rPr>
                        <a:t>2.22</a:t>
                      </a:r>
                    </a:p>
                  </a:txBody>
                  <a:tcPr anchor="ctr">
                    <a:solidFill>
                      <a:srgbClr val="FFFFFF"/>
                    </a:solidFill>
                  </a:tcPr>
                </a:tc>
                <a:tc>
                  <a:txBody>
                    <a:bodyPr/>
                    <a:lstStyle/>
                    <a:p>
                      <a:pPr algn="l" rtl="0"/>
                      <a:r>
                        <a:rPr lang="en-US" sz="1800" b="0">
                          <a:solidFill>
                            <a:srgbClr val="1E2B53"/>
                          </a:solidFill>
                          <a:latin typeface="Arial"/>
                          <a:ea typeface="Arial"/>
                          <a:cs typeface="Arial"/>
                        </a:rPr>
                        <a:t>6.8</a:t>
                      </a:r>
                    </a:p>
                  </a:txBody>
                  <a:tcPr anchor="ctr">
                    <a:solidFill>
                      <a:srgbClr val="FFFFFF"/>
                    </a:solidFill>
                  </a:tcPr>
                </a:tc>
                <a:extLst>
                  <a:ext uri="{0D108BD9-81ED-4DB2-BD59-A6C34878D82A}">
                    <a16:rowId xmlns:a16="http://schemas.microsoft.com/office/drawing/2014/main" val="10003"/>
                  </a:ext>
                </a:extLst>
              </a:tr>
              <a:tr h="372533">
                <a:tc>
                  <a:txBody>
                    <a:bodyPr/>
                    <a:lstStyle/>
                    <a:p>
                      <a:pPr algn="l" rtl="0"/>
                      <a:r>
                        <a:rPr lang="en-US" sz="1800" b="0">
                          <a:solidFill>
                            <a:srgbClr val="1E2B53"/>
                          </a:solidFill>
                          <a:latin typeface="Arial"/>
                          <a:ea typeface="Arial"/>
                          <a:cs typeface="Arial"/>
                        </a:rPr>
                        <a:t>Jazan</a:t>
                      </a:r>
                    </a:p>
                  </a:txBody>
                  <a:tcPr anchor="ctr">
                    <a:solidFill>
                      <a:srgbClr val="FFFFFF"/>
                    </a:solidFill>
                  </a:tcPr>
                </a:tc>
                <a:tc>
                  <a:txBody>
                    <a:bodyPr/>
                    <a:lstStyle/>
                    <a:p>
                      <a:pPr algn="l" rtl="0"/>
                      <a:r>
                        <a:rPr lang="en-US" sz="1800" b="0">
                          <a:solidFill>
                            <a:srgbClr val="1E2B53"/>
                          </a:solidFill>
                          <a:latin typeface="Arial"/>
                          <a:ea typeface="Arial"/>
                          <a:cs typeface="Arial"/>
                        </a:rPr>
                        <a:t>63.0%</a:t>
                      </a:r>
                    </a:p>
                  </a:txBody>
                  <a:tcPr anchor="ctr">
                    <a:solidFill>
                      <a:srgbClr val="FFFFFF"/>
                    </a:solidFill>
                  </a:tcPr>
                </a:tc>
                <a:tc>
                  <a:txBody>
                    <a:bodyPr/>
                    <a:lstStyle/>
                    <a:p>
                      <a:pPr algn="l" rtl="0"/>
                      <a:r>
                        <a:rPr lang="en-US" sz="1800" b="0">
                          <a:solidFill>
                            <a:srgbClr val="1E2B53"/>
                          </a:solidFill>
                          <a:latin typeface="Arial"/>
                          <a:ea typeface="Arial"/>
                          <a:cs typeface="Arial"/>
                        </a:rPr>
                        <a:t>1.97</a:t>
                      </a:r>
                    </a:p>
                  </a:txBody>
                  <a:tcPr anchor="ctr">
                    <a:solidFill>
                      <a:srgbClr val="FFFFFF"/>
                    </a:solidFill>
                  </a:tcPr>
                </a:tc>
                <a:tc>
                  <a:txBody>
                    <a:bodyPr/>
                    <a:lstStyle/>
                    <a:p>
                      <a:pPr algn="l" rtl="0"/>
                      <a:r>
                        <a:rPr lang="en-US" sz="1800" b="0">
                          <a:solidFill>
                            <a:srgbClr val="1E2B53"/>
                          </a:solidFill>
                          <a:latin typeface="Arial"/>
                          <a:ea typeface="Arial"/>
                          <a:cs typeface="Arial"/>
                        </a:rPr>
                        <a:t>6.6</a:t>
                      </a:r>
                    </a:p>
                  </a:txBody>
                  <a:tcPr anchor="ctr">
                    <a:solidFill>
                      <a:srgbClr val="FFFFFF"/>
                    </a:solidFill>
                  </a:tcPr>
                </a:tc>
                <a:extLst>
                  <a:ext uri="{0D108BD9-81ED-4DB2-BD59-A6C34878D82A}">
                    <a16:rowId xmlns:a16="http://schemas.microsoft.com/office/drawing/2014/main" val="10004"/>
                  </a:ext>
                </a:extLst>
              </a:tr>
              <a:tr h="372533">
                <a:tc>
                  <a:txBody>
                    <a:bodyPr/>
                    <a:lstStyle/>
                    <a:p>
                      <a:pPr algn="l" rtl="0"/>
                      <a:r>
                        <a:rPr lang="en-US" sz="1800" b="0">
                          <a:solidFill>
                            <a:srgbClr val="1E2B53"/>
                          </a:solidFill>
                          <a:latin typeface="Arial"/>
                          <a:ea typeface="Arial"/>
                          <a:cs typeface="Arial"/>
                        </a:rPr>
                        <a:t>Asir</a:t>
                      </a:r>
                    </a:p>
                  </a:txBody>
                  <a:tcPr anchor="ctr">
                    <a:solidFill>
                      <a:srgbClr val="FFFFFF"/>
                    </a:solidFill>
                  </a:tcPr>
                </a:tc>
                <a:tc>
                  <a:txBody>
                    <a:bodyPr/>
                    <a:lstStyle/>
                    <a:p>
                      <a:pPr algn="l" rtl="0"/>
                      <a:r>
                        <a:rPr lang="en-US" sz="1800" b="0">
                          <a:solidFill>
                            <a:srgbClr val="1E2B53"/>
                          </a:solidFill>
                          <a:latin typeface="Arial"/>
                          <a:ea typeface="Arial"/>
                          <a:cs typeface="Arial"/>
                        </a:rPr>
                        <a:t>64.4%</a:t>
                      </a:r>
                    </a:p>
                  </a:txBody>
                  <a:tcPr anchor="ctr">
                    <a:solidFill>
                      <a:srgbClr val="FFFFFF"/>
                    </a:solidFill>
                  </a:tcPr>
                </a:tc>
                <a:tc>
                  <a:txBody>
                    <a:bodyPr/>
                    <a:lstStyle/>
                    <a:p>
                      <a:pPr algn="l" rtl="0"/>
                      <a:r>
                        <a:rPr lang="en-US" sz="1800" b="0">
                          <a:solidFill>
                            <a:srgbClr val="1E2B53"/>
                          </a:solidFill>
                          <a:latin typeface="Arial"/>
                          <a:ea typeface="Arial"/>
                          <a:cs typeface="Arial"/>
                        </a:rPr>
                        <a:t>0.64</a:t>
                      </a:r>
                    </a:p>
                  </a:txBody>
                  <a:tcPr anchor="ctr">
                    <a:solidFill>
                      <a:srgbClr val="FFFFFF"/>
                    </a:solidFill>
                  </a:tcPr>
                </a:tc>
                <a:tc>
                  <a:txBody>
                    <a:bodyPr/>
                    <a:lstStyle/>
                    <a:p>
                      <a:pPr algn="l" rtl="0"/>
                      <a:r>
                        <a:rPr lang="en-US" sz="1800" b="0">
                          <a:solidFill>
                            <a:srgbClr val="1E2B53"/>
                          </a:solidFill>
                          <a:latin typeface="Arial"/>
                          <a:ea typeface="Arial"/>
                          <a:cs typeface="Arial"/>
                        </a:rPr>
                        <a:t>2.7</a:t>
                      </a:r>
                    </a:p>
                  </a:txBody>
                  <a:tcPr anchor="ctr">
                    <a:solidFill>
                      <a:srgbClr val="FFFFFF"/>
                    </a:solidFill>
                  </a:tcPr>
                </a:tc>
                <a:extLst>
                  <a:ext uri="{0D108BD9-81ED-4DB2-BD59-A6C34878D82A}">
                    <a16:rowId xmlns:a16="http://schemas.microsoft.com/office/drawing/2014/main" val="10005"/>
                  </a:ext>
                </a:extLst>
              </a:tr>
              <a:tr h="372533">
                <a:tc>
                  <a:txBody>
                    <a:bodyPr/>
                    <a:lstStyle/>
                    <a:p>
                      <a:pPr algn="l" rtl="0"/>
                      <a:r>
                        <a:rPr lang="en-US" sz="1800" b="0">
                          <a:solidFill>
                            <a:srgbClr val="1E2B53"/>
                          </a:solidFill>
                          <a:latin typeface="Arial"/>
                          <a:ea typeface="Arial"/>
                          <a:cs typeface="Arial"/>
                        </a:rPr>
                        <a:t>Tabuk</a:t>
                      </a:r>
                    </a:p>
                  </a:txBody>
                  <a:tcPr anchor="ctr">
                    <a:solidFill>
                      <a:srgbClr val="FFFFFF"/>
                    </a:solidFill>
                  </a:tcPr>
                </a:tc>
                <a:tc>
                  <a:txBody>
                    <a:bodyPr/>
                    <a:lstStyle/>
                    <a:p>
                      <a:pPr algn="l" rtl="0"/>
                      <a:r>
                        <a:rPr lang="en-US" sz="1800" b="0">
                          <a:solidFill>
                            <a:srgbClr val="1E2B53"/>
                          </a:solidFill>
                          <a:latin typeface="Arial"/>
                          <a:ea typeface="Arial"/>
                          <a:cs typeface="Arial"/>
                        </a:rPr>
                        <a:t>64.5%</a:t>
                      </a:r>
                    </a:p>
                  </a:txBody>
                  <a:tcPr anchor="ctr">
                    <a:solidFill>
                      <a:srgbClr val="FFFFFF"/>
                    </a:solidFill>
                  </a:tcPr>
                </a:tc>
                <a:tc>
                  <a:txBody>
                    <a:bodyPr/>
                    <a:lstStyle/>
                    <a:p>
                      <a:pPr algn="l" rtl="0"/>
                      <a:r>
                        <a:rPr lang="en-US" sz="1800" b="0">
                          <a:solidFill>
                            <a:srgbClr val="1E2B53"/>
                          </a:solidFill>
                          <a:latin typeface="Arial"/>
                          <a:ea typeface="Arial"/>
                          <a:cs typeface="Arial"/>
                        </a:rPr>
                        <a:t>0.52</a:t>
                      </a:r>
                    </a:p>
                  </a:txBody>
                  <a:tcPr anchor="ctr">
                    <a:solidFill>
                      <a:srgbClr val="FFFFFF"/>
                    </a:solidFill>
                  </a:tcPr>
                </a:tc>
                <a:tc>
                  <a:txBody>
                    <a:bodyPr/>
                    <a:lstStyle/>
                    <a:p>
                      <a:pPr algn="l" rtl="0"/>
                      <a:r>
                        <a:rPr lang="en-US" sz="1800" b="0">
                          <a:solidFill>
                            <a:srgbClr val="1E2B53"/>
                          </a:solidFill>
                          <a:latin typeface="Arial"/>
                          <a:ea typeface="Arial"/>
                          <a:cs typeface="Arial"/>
                        </a:rPr>
                        <a:t>2.0</a:t>
                      </a:r>
                    </a:p>
                  </a:txBody>
                  <a:tcPr anchor="ctr">
                    <a:solidFill>
                      <a:srgbClr val="FFFFFF"/>
                    </a:solidFill>
                  </a:tcPr>
                </a:tc>
                <a:extLst>
                  <a:ext uri="{0D108BD9-81ED-4DB2-BD59-A6C34878D82A}">
                    <a16:rowId xmlns:a16="http://schemas.microsoft.com/office/drawing/2014/main" val="10006"/>
                  </a:ext>
                </a:extLst>
              </a:tr>
              <a:tr h="372533">
                <a:tc>
                  <a:txBody>
                    <a:bodyPr/>
                    <a:lstStyle/>
                    <a:p>
                      <a:pPr algn="l" rtl="0"/>
                      <a:r>
                        <a:rPr lang="en-US" sz="1800" b="0">
                          <a:solidFill>
                            <a:srgbClr val="1E2B53"/>
                          </a:solidFill>
                          <a:latin typeface="Arial"/>
                          <a:ea typeface="Arial"/>
                          <a:cs typeface="Arial"/>
                        </a:rPr>
                        <a:t>Hail</a:t>
                      </a:r>
                    </a:p>
                  </a:txBody>
                  <a:tcPr anchor="ctr">
                    <a:solidFill>
                      <a:srgbClr val="FFFFFF"/>
                    </a:solidFill>
                  </a:tcPr>
                </a:tc>
                <a:tc>
                  <a:txBody>
                    <a:bodyPr/>
                    <a:lstStyle/>
                    <a:p>
                      <a:pPr algn="l" rtl="0"/>
                      <a:r>
                        <a:rPr lang="en-US" sz="1800" b="0">
                          <a:solidFill>
                            <a:srgbClr val="1E2B53"/>
                          </a:solidFill>
                          <a:latin typeface="Arial"/>
                          <a:ea typeface="Arial"/>
                          <a:cs typeface="Arial"/>
                        </a:rPr>
                        <a:t>64.7%</a:t>
                      </a:r>
                    </a:p>
                  </a:txBody>
                  <a:tcPr anchor="ctr">
                    <a:solidFill>
                      <a:srgbClr val="FFFFFF"/>
                    </a:solidFill>
                  </a:tcPr>
                </a:tc>
                <a:tc>
                  <a:txBody>
                    <a:bodyPr/>
                    <a:lstStyle/>
                    <a:p>
                      <a:pPr algn="l" rtl="0"/>
                      <a:r>
                        <a:rPr lang="en-US" sz="1800" b="0">
                          <a:solidFill>
                            <a:srgbClr val="1E2B53"/>
                          </a:solidFill>
                          <a:latin typeface="Arial"/>
                          <a:ea typeface="Arial"/>
                          <a:cs typeface="Arial"/>
                        </a:rPr>
                        <a:t>0.26</a:t>
                      </a:r>
                    </a:p>
                  </a:txBody>
                  <a:tcPr anchor="ctr">
                    <a:solidFill>
                      <a:srgbClr val="FFFFFF"/>
                    </a:solidFill>
                  </a:tcPr>
                </a:tc>
                <a:tc>
                  <a:txBody>
                    <a:bodyPr/>
                    <a:lstStyle/>
                    <a:p>
                      <a:pPr algn="l" rtl="0"/>
                      <a:r>
                        <a:rPr lang="en-US" sz="1800" b="0">
                          <a:solidFill>
                            <a:srgbClr val="1E2B53"/>
                          </a:solidFill>
                          <a:latin typeface="Arial"/>
                          <a:ea typeface="Arial"/>
                          <a:cs typeface="Arial"/>
                        </a:rPr>
                        <a:t>1.0</a:t>
                      </a:r>
                    </a:p>
                  </a:txBody>
                  <a:tcPr anchor="ctr">
                    <a:solidFill>
                      <a:srgbClr val="FFFFFF"/>
                    </a:solidFill>
                  </a:tcPr>
                </a:tc>
                <a:extLst>
                  <a:ext uri="{0D108BD9-81ED-4DB2-BD59-A6C34878D82A}">
                    <a16:rowId xmlns:a16="http://schemas.microsoft.com/office/drawing/2014/main" val="10007"/>
                  </a:ext>
                </a:extLst>
              </a:tr>
              <a:tr h="372533">
                <a:tc>
                  <a:txBody>
                    <a:bodyPr/>
                    <a:lstStyle/>
                    <a:p>
                      <a:pPr algn="l" rtl="0"/>
                      <a:r>
                        <a:rPr lang="en-US" sz="1800" b="0">
                          <a:solidFill>
                            <a:srgbClr val="1E2B53"/>
                          </a:solidFill>
                          <a:latin typeface="Arial"/>
                          <a:ea typeface="Arial"/>
                          <a:cs typeface="Arial"/>
                        </a:rPr>
                        <a:t>Al-Jouf</a:t>
                      </a:r>
                    </a:p>
                  </a:txBody>
                  <a:tcPr anchor="ctr">
                    <a:solidFill>
                      <a:srgbClr val="FFFFFF"/>
                    </a:solidFill>
                  </a:tcPr>
                </a:tc>
                <a:tc>
                  <a:txBody>
                    <a:bodyPr/>
                    <a:lstStyle/>
                    <a:p>
                      <a:pPr algn="l" rtl="0"/>
                      <a:r>
                        <a:rPr lang="en-US" sz="1800" b="0">
                          <a:solidFill>
                            <a:srgbClr val="1E2B53"/>
                          </a:solidFill>
                          <a:latin typeface="Arial"/>
                          <a:ea typeface="Arial"/>
                          <a:cs typeface="Arial"/>
                        </a:rPr>
                        <a:t>64.8%</a:t>
                      </a:r>
                    </a:p>
                  </a:txBody>
                  <a:tcPr anchor="ctr">
                    <a:solidFill>
                      <a:srgbClr val="FFFFFF"/>
                    </a:solidFill>
                  </a:tcPr>
                </a:tc>
                <a:tc>
                  <a:txBody>
                    <a:bodyPr/>
                    <a:lstStyle/>
                    <a:p>
                      <a:pPr algn="l" rtl="0"/>
                      <a:r>
                        <a:rPr lang="en-US" sz="1800" b="0">
                          <a:solidFill>
                            <a:srgbClr val="1E2B53"/>
                          </a:solidFill>
                          <a:latin typeface="Arial"/>
                          <a:ea typeface="Arial"/>
                          <a:cs typeface="Arial"/>
                        </a:rPr>
                        <a:t>0.18</a:t>
                      </a:r>
                    </a:p>
                  </a:txBody>
                  <a:tcPr anchor="ctr">
                    <a:solidFill>
                      <a:srgbClr val="FFFFFF"/>
                    </a:solidFill>
                  </a:tcPr>
                </a:tc>
                <a:tc>
                  <a:txBody>
                    <a:bodyPr/>
                    <a:lstStyle/>
                    <a:p>
                      <a:pPr algn="l" rtl="0"/>
                      <a:r>
                        <a:rPr lang="en-US" sz="1800" b="0">
                          <a:solidFill>
                            <a:srgbClr val="1E2B53"/>
                          </a:solidFill>
                          <a:latin typeface="Arial"/>
                          <a:ea typeface="Arial"/>
                          <a:cs typeface="Arial"/>
                        </a:rPr>
                        <a:t>0.7</a:t>
                      </a:r>
                    </a:p>
                  </a:txBody>
                  <a:tcPr anchor="ctr">
                    <a:solidFill>
                      <a:srgbClr val="FFFFFF"/>
                    </a:solidFill>
                  </a:tcPr>
                </a:tc>
                <a:extLst>
                  <a:ext uri="{0D108BD9-81ED-4DB2-BD59-A6C34878D82A}">
                    <a16:rowId xmlns:a16="http://schemas.microsoft.com/office/drawing/2014/main" val="10008"/>
                  </a:ext>
                </a:extLst>
              </a:tr>
              <a:tr h="372533">
                <a:tc>
                  <a:txBody>
                    <a:bodyPr/>
                    <a:lstStyle/>
                    <a:p>
                      <a:pPr algn="l" rtl="0"/>
                      <a:r>
                        <a:rPr lang="en-US" sz="1800" b="0">
                          <a:solidFill>
                            <a:srgbClr val="1E2B53"/>
                          </a:solidFill>
                          <a:latin typeface="Arial"/>
                          <a:ea typeface="Arial"/>
                          <a:cs typeface="Arial"/>
                        </a:rPr>
                        <a:t>Total</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pPr algn="l" rtl="0"/>
                      <a:r>
                        <a:rPr lang="en-US" sz="1800" b="0">
                          <a:solidFill>
                            <a:srgbClr val="1E2B53"/>
                          </a:solidFill>
                          <a:latin typeface="Arial"/>
                          <a:ea typeface="Arial"/>
                          <a:cs typeface="Arial"/>
                        </a:rPr>
                        <a:t>40.0</a:t>
                      </a:r>
                    </a:p>
                  </a:txBody>
                  <a:tcPr anchor="ctr">
                    <a:solidFill>
                      <a:srgbClr val="FFFFFF"/>
                    </a:solidFill>
                  </a:tcPr>
                </a:tc>
                <a:extLst>
                  <a:ext uri="{0D108BD9-81ED-4DB2-BD59-A6C34878D82A}">
                    <a16:rowId xmlns:a16="http://schemas.microsoft.com/office/drawing/2014/main" val="10009"/>
                  </a:ext>
                </a:extLst>
              </a:tr>
            </a:tbl>
          </a:graphicData>
        </a:graphic>
      </p:graphicFrame>
      <p:sp>
        <p:nvSpPr>
          <p:cNvPr id="5" name="Rectangle 4">
            <a:extLst>
              <a:ext uri="{FF2B5EF4-FFF2-40B4-BE49-F238E27FC236}">
                <a16:creationId xmlns:a16="http://schemas.microsoft.com/office/drawing/2014/main" id="{AEFEDE83-C424-4A8F-95F1-ED00B50CA606}"/>
              </a:ext>
            </a:extLst>
          </p:cNvPr>
          <p:cNvSpPr>
            <a:spLocks noGrp="1"/>
          </p:cNvSpPr>
          <p:nvPr/>
        </p:nvSpPr>
        <p:spPr>
          <a:xfrm>
            <a:off x="609600" y="1828800"/>
            <a:ext cx="3267075" cy="638175"/>
          </a:xfrm>
          <a:prstGeom prst="rect">
            <a:avLst/>
          </a:prstGeom>
          <a:noFill/>
          <a:ln w="0">
            <a:noFill/>
          </a:ln>
        </p:spPr>
        <p:txBody>
          <a:bodyPr wrap="square" lIns="0" tIns="0" rIns="0" bIns="0" anchor="t">
            <a:noAutofit/>
          </a:bodyPr>
          <a:lstStyle/>
          <a:p>
            <a:pPr>
              <a:defRPr lang="en-US" sz="3675" b="1">
                <a:solidFill>
                  <a:srgbClr val="2E8B57"/>
                </a:solidFill>
                <a:latin typeface="Arial"/>
                <a:ea typeface="Arial"/>
                <a:cs typeface="Arial"/>
              </a:defRPr>
            </a:pPr>
            <a:r>
              <a:rPr lang="en-US" sz="3675" b="1" dirty="0">
                <a:solidFill>
                  <a:srgbClr val="2E8B57"/>
                </a:solidFill>
                <a:latin typeface="Arial"/>
                <a:ea typeface="Arial"/>
                <a:cs typeface="Arial"/>
              </a:rPr>
              <a:t>10M SAR</a:t>
            </a:r>
          </a:p>
        </p:txBody>
      </p:sp>
      <p:sp>
        <p:nvSpPr>
          <p:cNvPr id="6" name="Rectangle 5">
            <a:extLst>
              <a:ext uri="{FF2B5EF4-FFF2-40B4-BE49-F238E27FC236}">
                <a16:creationId xmlns:a16="http://schemas.microsoft.com/office/drawing/2014/main" id="{06BCAFD2-8504-4D03-BDEF-CABF66B516C5}"/>
              </a:ext>
            </a:extLst>
          </p:cNvPr>
          <p:cNvSpPr>
            <a:spLocks noGrp="1"/>
          </p:cNvSpPr>
          <p:nvPr/>
        </p:nvSpPr>
        <p:spPr>
          <a:xfrm>
            <a:off x="609600" y="2562225"/>
            <a:ext cx="3267075" cy="1428750"/>
          </a:xfrm>
          <a:prstGeom prst="rect">
            <a:avLst/>
          </a:prstGeom>
          <a:noFill/>
          <a:ln w="0">
            <a:noFill/>
          </a:ln>
        </p:spPr>
        <p:txBody>
          <a:bodyPr wrap="square" lIns="0" tIns="0" rIns="0" bIns="0" anchor="t">
            <a:noAutofit/>
          </a:bodyPr>
          <a:lstStyle/>
          <a:p>
            <a:pPr algn="l" rtl="0">
              <a:defRPr lang="en-US" sz="2025" b="0">
                <a:solidFill>
                  <a:srgbClr val="1E2B53"/>
                </a:solidFill>
                <a:latin typeface="Arial"/>
                <a:ea typeface="Arial"/>
                <a:cs typeface="Arial"/>
              </a:defRPr>
            </a:pPr>
            <a:r>
              <a:rPr lang="en-US" sz="2025" b="0">
                <a:solidFill>
                  <a:srgbClr val="1E2B53"/>
                </a:solidFill>
                <a:latin typeface="Arial"/>
                <a:ea typeface="Arial"/>
                <a:cs typeface="Arial"/>
              </a:rPr>
              <a:t>Identify barriers</a:t>
            </a:r>
          </a:p>
          <a:p>
            <a:pPr algn="l" rtl="0">
              <a:defRPr lang="en-US" sz="2025" b="0">
                <a:solidFill>
                  <a:srgbClr val="1E2B53"/>
                </a:solidFill>
                <a:latin typeface="Arial"/>
                <a:ea typeface="Arial"/>
                <a:cs typeface="Arial"/>
              </a:defRPr>
            </a:pPr>
            <a:r>
              <a:rPr lang="en-US" sz="2025" b="0">
                <a:solidFill>
                  <a:srgbClr val="1E2B53"/>
                </a:solidFill>
                <a:latin typeface="Arial"/>
                <a:ea typeface="Arial"/>
                <a:cs typeface="Arial"/>
              </a:rPr>
              <a:t>and test service improvements</a:t>
            </a:r>
          </a:p>
          <a:p>
            <a:pPr algn="l" rtl="0">
              <a:defRPr lang="en-US" sz="2025" b="0">
                <a:solidFill>
                  <a:srgbClr val="1E2B53"/>
                </a:solidFill>
                <a:latin typeface="Arial"/>
                <a:ea typeface="Arial"/>
                <a:cs typeface="Arial"/>
              </a:defRPr>
            </a:pPr>
            <a:r>
              <a:rPr lang="en-US" sz="2025" b="0">
                <a:solidFill>
                  <a:srgbClr val="1E2B53"/>
                </a:solidFill>
                <a:latin typeface="Arial"/>
                <a:ea typeface="Arial"/>
                <a:cs typeface="Arial"/>
              </a:rPr>
              <a:t>with digital assistance</a:t>
            </a:r>
          </a:p>
        </p:txBody>
      </p:sp>
      <p:sp>
        <p:nvSpPr>
          <p:cNvPr id="7" name="Rectangle 6">
            <a:extLst>
              <a:ext uri="{FF2B5EF4-FFF2-40B4-BE49-F238E27FC236}">
                <a16:creationId xmlns:a16="http://schemas.microsoft.com/office/drawing/2014/main" id="{DFED859F-BFC9-4FA4-A89B-3D03A6E47876}"/>
              </a:ext>
            </a:extLst>
          </p:cNvPr>
          <p:cNvSpPr>
            <a:spLocks noGrp="1"/>
          </p:cNvSpPr>
          <p:nvPr/>
        </p:nvSpPr>
        <p:spPr>
          <a:xfrm>
            <a:off x="609600" y="4143375"/>
            <a:ext cx="3267075" cy="619125"/>
          </a:xfrm>
          <a:prstGeom prst="rect">
            <a:avLst/>
          </a:prstGeom>
          <a:noFill/>
          <a:ln w="0">
            <a:noFill/>
          </a:ln>
        </p:spPr>
        <p:txBody>
          <a:bodyPr wrap="square" lIns="0" tIns="0" rIns="0" bIns="0" anchor="t">
            <a:noAutofit/>
          </a:bodyPr>
          <a:lstStyle/>
          <a:p>
            <a:pPr>
              <a:defRPr lang="en-US" sz="3675" b="1">
                <a:solidFill>
                  <a:srgbClr val="1E2B53"/>
                </a:solidFill>
                <a:latin typeface="Arial"/>
                <a:ea typeface="Arial"/>
                <a:cs typeface="Arial"/>
              </a:defRPr>
            </a:pPr>
            <a:r>
              <a:rPr lang="en-US" sz="3675" b="1" dirty="0">
                <a:solidFill>
                  <a:srgbClr val="1E2B53"/>
                </a:solidFill>
                <a:latin typeface="Arial"/>
                <a:ea typeface="Arial"/>
                <a:cs typeface="Arial"/>
              </a:rPr>
              <a:t>30M </a:t>
            </a:r>
            <a:r>
              <a:rPr lang="en-US" sz="4000" b="1" dirty="0">
                <a:solidFill>
                  <a:srgbClr val="1E2B53"/>
                </a:solidFill>
                <a:latin typeface="Arial"/>
                <a:ea typeface="Arial"/>
                <a:cs typeface="Arial"/>
              </a:rPr>
              <a:t>SAR</a:t>
            </a:r>
            <a:endParaRPr lang="en-US" sz="3675" b="1" dirty="0">
              <a:solidFill>
                <a:srgbClr val="1E2B53"/>
              </a:solidFill>
              <a:latin typeface="Arial"/>
              <a:ea typeface="Arial"/>
              <a:cs typeface="Arial"/>
            </a:endParaRPr>
          </a:p>
        </p:txBody>
      </p:sp>
      <p:sp>
        <p:nvSpPr>
          <p:cNvPr id="8" name="Rectangle 7">
            <a:extLst>
              <a:ext uri="{FF2B5EF4-FFF2-40B4-BE49-F238E27FC236}">
                <a16:creationId xmlns:a16="http://schemas.microsoft.com/office/drawing/2014/main" id="{391FA01C-234A-4840-A39E-2F450CC9E7A3}"/>
              </a:ext>
            </a:extLst>
          </p:cNvPr>
          <p:cNvSpPr>
            <a:spLocks noGrp="1"/>
          </p:cNvSpPr>
          <p:nvPr/>
        </p:nvSpPr>
        <p:spPr>
          <a:xfrm>
            <a:off x="609600" y="4857750"/>
            <a:ext cx="3267075" cy="1152525"/>
          </a:xfrm>
          <a:prstGeom prst="rect">
            <a:avLst/>
          </a:prstGeom>
          <a:noFill/>
          <a:ln w="0">
            <a:noFill/>
          </a:ln>
        </p:spPr>
        <p:txBody>
          <a:bodyPr wrap="square" lIns="0" tIns="0" rIns="0" bIns="0" anchor="t">
            <a:noAutofit/>
          </a:bodyPr>
          <a:lstStyle/>
          <a:p>
            <a:pPr algn="l" rtl="0">
              <a:defRPr lang="en-US" sz="1950" b="0">
                <a:solidFill>
                  <a:srgbClr val="1E2B53"/>
                </a:solidFill>
                <a:latin typeface="Arial"/>
                <a:ea typeface="Arial"/>
                <a:cs typeface="Arial"/>
              </a:defRPr>
            </a:pPr>
            <a:r>
              <a:rPr lang="en-US" sz="1950" b="0">
                <a:solidFill>
                  <a:srgbClr val="1E2B53"/>
                </a:solidFill>
                <a:latin typeface="Arial"/>
                <a:ea typeface="Arial"/>
                <a:cs typeface="Arial"/>
              </a:rPr>
              <a:t>Release based on results</a:t>
            </a:r>
          </a:p>
          <a:p>
            <a:pPr algn="l" rtl="0">
              <a:defRPr lang="en-US" sz="1950" b="0">
                <a:solidFill>
                  <a:srgbClr val="1E2B53"/>
                </a:solidFill>
                <a:latin typeface="Arial"/>
                <a:ea typeface="Arial"/>
                <a:cs typeface="Arial"/>
              </a:defRPr>
            </a:pPr>
            <a:r>
              <a:rPr lang="en-US" sz="1950" b="0">
                <a:solidFill>
                  <a:srgbClr val="1E2B53"/>
                </a:solidFill>
                <a:latin typeface="Arial"/>
                <a:ea typeface="Arial"/>
                <a:cs typeface="Arial"/>
              </a:rPr>
              <a:t>Aim: close the gap</a:t>
            </a:r>
          </a:p>
          <a:p>
            <a:pPr algn="l" rtl="0">
              <a:defRPr lang="en-US" sz="1950" b="0">
                <a:solidFill>
                  <a:srgbClr val="1E2B53"/>
                </a:solidFill>
                <a:latin typeface="Arial"/>
                <a:ea typeface="Arial"/>
                <a:cs typeface="Arial"/>
              </a:defRPr>
            </a:pPr>
            <a:r>
              <a:rPr lang="en-US" sz="1950" b="0">
                <a:solidFill>
                  <a:srgbClr val="1E2B53"/>
                </a:solidFill>
                <a:latin typeface="Arial"/>
                <a:ea typeface="Arial"/>
                <a:cs typeface="Arial"/>
              </a:rPr>
              <a:t>toward 65% in each region</a:t>
            </a:r>
          </a:p>
        </p:txBody>
      </p:sp>
      <p:sp>
        <p:nvSpPr>
          <p:cNvPr id="9" name="Rectangle 8">
            <a:extLst>
              <a:ext uri="{FF2B5EF4-FFF2-40B4-BE49-F238E27FC236}">
                <a16:creationId xmlns:a16="http://schemas.microsoft.com/office/drawing/2014/main" id="{EF32619A-20F7-49B3-AB30-73AE0B8BCB2C}"/>
              </a:ext>
            </a:extLst>
          </p:cNvPr>
          <p:cNvSpPr>
            <a:spLocks noGrp="1"/>
          </p:cNvSpPr>
          <p:nvPr/>
        </p:nvSpPr>
        <p:spPr>
          <a:xfrm>
            <a:off x="609600" y="6076950"/>
            <a:ext cx="10972800" cy="228600"/>
          </a:xfrm>
          <a:prstGeom prst="rect">
            <a:avLst/>
          </a:prstGeom>
          <a:noFill/>
          <a:ln w="0">
            <a:noFill/>
          </a:ln>
        </p:spPr>
        <p:txBody>
          <a:bodyPr wrap="square" lIns="0" tIns="0" rIns="0" bIns="0" anchor="t">
            <a:noAutofit/>
          </a:bodyPr>
          <a:lstStyle/>
          <a:p>
            <a:pPr algn="l" rtl="0">
              <a:defRPr lang="en-US" sz="1350" b="0">
                <a:solidFill>
                  <a:srgbClr val="637080"/>
                </a:solidFill>
                <a:latin typeface="Arial"/>
                <a:ea typeface="Arial"/>
                <a:cs typeface="Arial"/>
              </a:defRPr>
            </a:pPr>
            <a:r>
              <a:rPr lang="en-US" sz="1350" b="0">
                <a:solidFill>
                  <a:srgbClr val="637080"/>
                </a:solidFill>
                <a:latin typeface="Arial"/>
                <a:ea typeface="Arial"/>
                <a:cs typeface="Arial"/>
              </a:rPr>
              <a:t>Planning proposal. The data provides no cost per adoption point or return per riyal.</a:t>
            </a:r>
          </a:p>
        </p:txBody>
      </p:sp>
    </p:spTree>
    <p:extLst>
      <p:ext uri="{BB962C8B-B14F-4D97-AF65-F5344CB8AC3E}">
        <p14:creationId xmlns:p14="http://schemas.microsoft.com/office/powerpoint/2010/main" val="66454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B5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B39F2AE-BCB9-472A-9AF3-0DB340AF02F6}"/>
              </a:ext>
            </a:extLst>
          </p:cNvPr>
          <p:cNvSpPr>
            <a:spLocks noGrp="1"/>
          </p:cNvSpPr>
          <p:nvPr/>
        </p:nvSpPr>
        <p:spPr>
          <a:xfrm>
            <a:off x="609600" y="438150"/>
            <a:ext cx="10972800" cy="1009650"/>
          </a:xfrm>
          <a:prstGeom prst="rect">
            <a:avLst/>
          </a:prstGeom>
          <a:noFill/>
          <a:ln w="0">
            <a:noFill/>
          </a:ln>
        </p:spPr>
        <p:txBody>
          <a:bodyPr wrap="square" lIns="0" tIns="0" rIns="0" bIns="0" anchor="t">
            <a:noAutofit/>
          </a:bodyPr>
          <a:lstStyle/>
          <a:p>
            <a:pPr>
              <a:defRPr lang="en-US" sz="3300" b="1">
                <a:solidFill>
                  <a:srgbClr val="FFFFFF"/>
                </a:solidFill>
                <a:latin typeface="Arial"/>
                <a:ea typeface="Arial"/>
                <a:cs typeface="Arial"/>
              </a:defRPr>
            </a:pPr>
            <a:r>
              <a:rPr lang="en-US" sz="3300" b="1" dirty="0">
                <a:solidFill>
                  <a:srgbClr val="FFFFFF"/>
                </a:solidFill>
                <a:latin typeface="Arial"/>
                <a:ea typeface="Arial"/>
                <a:cs typeface="Arial"/>
              </a:rPr>
              <a:t>Approval of SAR 40M SAR with a review after 90 days</a:t>
            </a:r>
          </a:p>
        </p:txBody>
      </p:sp>
      <p:sp>
        <p:nvSpPr>
          <p:cNvPr id="2" name="Rectangle 1">
            <a:extLst>
              <a:ext uri="{FF2B5EF4-FFF2-40B4-BE49-F238E27FC236}">
                <a16:creationId xmlns:a16="http://schemas.microsoft.com/office/drawing/2014/main" id="{C7E03BA3-519E-4C42-87B4-B22BBB9AF53C}"/>
              </a:ext>
            </a:extLst>
          </p:cNvPr>
          <p:cNvSpPr>
            <a:spLocks noGrp="1"/>
          </p:cNvSpPr>
          <p:nvPr/>
        </p:nvSpPr>
        <p:spPr>
          <a:xfrm>
            <a:off x="609600" y="6305550"/>
            <a:ext cx="952500" cy="266700"/>
          </a:xfrm>
          <a:prstGeom prst="rect">
            <a:avLst/>
          </a:prstGeom>
          <a:noFill/>
          <a:ln w="0">
            <a:noFill/>
          </a:ln>
        </p:spPr>
        <p:txBody>
          <a:bodyPr wrap="square" lIns="0" tIns="0" rIns="0" bIns="0" anchor="t">
            <a:noAutofit/>
          </a:bodyPr>
          <a:lstStyle/>
          <a:p>
            <a:pPr algn="l" rtl="0">
              <a:defRPr lang="en-US" sz="1350" b="0">
                <a:solidFill>
                  <a:srgbClr val="CBD2E1"/>
                </a:solidFill>
                <a:latin typeface="Arial"/>
                <a:ea typeface="Arial"/>
                <a:cs typeface="Arial"/>
              </a:defRPr>
            </a:pPr>
            <a:r>
              <a:rPr lang="en-US" sz="1350" b="0">
                <a:solidFill>
                  <a:srgbClr val="CBD2E1"/>
                </a:solidFill>
                <a:latin typeface="Arial"/>
                <a:ea typeface="Arial"/>
                <a:cs typeface="Arial"/>
              </a:rPr>
              <a:t>7 / 7</a:t>
            </a:r>
          </a:p>
        </p:txBody>
      </p:sp>
      <p:sp>
        <p:nvSpPr>
          <p:cNvPr id="3" name="Rectangle 2">
            <a:extLst>
              <a:ext uri="{FF2B5EF4-FFF2-40B4-BE49-F238E27FC236}">
                <a16:creationId xmlns:a16="http://schemas.microsoft.com/office/drawing/2014/main" id="{81C7F058-F7C0-4D97-A8D2-173EA31413F1}"/>
              </a:ext>
            </a:extLst>
          </p:cNvPr>
          <p:cNvSpPr>
            <a:spLocks noGrp="1"/>
          </p:cNvSpPr>
          <p:nvPr/>
        </p:nvSpPr>
        <p:spPr>
          <a:xfrm>
            <a:off x="4476750" y="6305550"/>
            <a:ext cx="7105650" cy="276225"/>
          </a:xfrm>
          <a:prstGeom prst="rect">
            <a:avLst/>
          </a:prstGeom>
          <a:noFill/>
          <a:ln w="0">
            <a:noFill/>
          </a:ln>
        </p:spPr>
        <p:txBody>
          <a:bodyPr wrap="square" lIns="0" tIns="0" rIns="0" bIns="0" anchor="t">
            <a:noAutofit/>
          </a:bodyPr>
          <a:lstStyle/>
          <a:p>
            <a:pPr algn="l" rtl="0">
              <a:defRPr lang="en-US" sz="1350" b="0">
                <a:solidFill>
                  <a:srgbClr val="CBD2E1"/>
                </a:solidFill>
                <a:latin typeface="Arial"/>
                <a:ea typeface="Arial"/>
                <a:cs typeface="Arial"/>
              </a:defRPr>
            </a:pPr>
            <a:r>
              <a:rPr lang="en-US" sz="1350" b="0" dirty="0">
                <a:solidFill>
                  <a:srgbClr val="CBD2E1"/>
                </a:solidFill>
                <a:latin typeface="Arial"/>
                <a:ea typeface="Arial"/>
                <a:cs typeface="Arial"/>
              </a:rPr>
              <a:t>Tayseer, synthetic training data,</a:t>
            </a:r>
          </a:p>
        </p:txBody>
      </p:sp>
      <p:sp>
        <p:nvSpPr>
          <p:cNvPr id="4" name="Rectangle 3">
            <a:extLst>
              <a:ext uri="{FF2B5EF4-FFF2-40B4-BE49-F238E27FC236}">
                <a16:creationId xmlns:a16="http://schemas.microsoft.com/office/drawing/2014/main" id="{E94E8924-5753-4E87-85E7-67F4565204BB}"/>
              </a:ext>
            </a:extLst>
          </p:cNvPr>
          <p:cNvSpPr>
            <a:spLocks noGrp="1"/>
          </p:cNvSpPr>
          <p:nvPr/>
        </p:nvSpPr>
        <p:spPr>
          <a:xfrm>
            <a:off x="609600" y="1704975"/>
            <a:ext cx="10972800" cy="476250"/>
          </a:xfrm>
          <a:prstGeom prst="rect">
            <a:avLst/>
          </a:prstGeom>
          <a:noFill/>
          <a:ln w="0">
            <a:noFill/>
          </a:ln>
        </p:spPr>
        <p:txBody>
          <a:bodyPr wrap="square" lIns="0" tIns="0" rIns="0" bIns="0" anchor="t">
            <a:noAutofit/>
          </a:bodyPr>
          <a:lstStyle/>
          <a:p>
            <a:pPr algn="l" rtl="0">
              <a:defRPr lang="en-US" sz="2475" b="1">
                <a:solidFill>
                  <a:srgbClr val="6BBF8E"/>
                </a:solidFill>
                <a:latin typeface="Arial"/>
                <a:ea typeface="Arial"/>
                <a:cs typeface="Arial"/>
              </a:defRPr>
            </a:pPr>
            <a:r>
              <a:rPr lang="en-US" sz="2475" b="1">
                <a:solidFill>
                  <a:srgbClr val="6BBF8E"/>
                </a:solidFill>
                <a:latin typeface="Arial"/>
                <a:ea typeface="Arial"/>
                <a:cs typeface="Arial"/>
              </a:rPr>
              <a:t>Decision requested</a:t>
            </a:r>
          </a:p>
        </p:txBody>
      </p:sp>
      <p:sp>
        <p:nvSpPr>
          <p:cNvPr id="5" name="Rectangle 4">
            <a:extLst>
              <a:ext uri="{FF2B5EF4-FFF2-40B4-BE49-F238E27FC236}">
                <a16:creationId xmlns:a16="http://schemas.microsoft.com/office/drawing/2014/main" id="{8A3A4C18-760F-4F8A-91FD-1A852749981C}"/>
              </a:ext>
            </a:extLst>
          </p:cNvPr>
          <p:cNvSpPr>
            <a:spLocks noGrp="1"/>
          </p:cNvSpPr>
          <p:nvPr/>
        </p:nvSpPr>
        <p:spPr>
          <a:xfrm>
            <a:off x="609600" y="2295525"/>
            <a:ext cx="10972800" cy="1047750"/>
          </a:xfrm>
          <a:prstGeom prst="rect">
            <a:avLst/>
          </a:prstGeom>
          <a:noFill/>
          <a:ln w="0">
            <a:noFill/>
          </a:ln>
        </p:spPr>
        <p:txBody>
          <a:bodyPr wrap="square" lIns="0" tIns="0" rIns="0" bIns="0" anchor="t">
            <a:noAutofit/>
          </a:bodyPr>
          <a:lstStyle/>
          <a:p>
            <a:pPr algn="l" rtl="0">
              <a:defRPr lang="en-US" sz="3150" b="1">
                <a:solidFill>
                  <a:srgbClr val="FFFFFF"/>
                </a:solidFill>
                <a:latin typeface="Arial"/>
                <a:ea typeface="Arial"/>
                <a:cs typeface="Arial"/>
              </a:defRPr>
            </a:pPr>
            <a:r>
              <a:rPr lang="en-US" sz="3150" b="1" dirty="0">
                <a:solidFill>
                  <a:srgbClr val="FFFFFF"/>
                </a:solidFill>
                <a:latin typeface="Arial"/>
                <a:ea typeface="Arial"/>
                <a:cs typeface="Arial"/>
              </a:rPr>
              <a:t>Approve the allocation across eight regions</a:t>
            </a:r>
          </a:p>
          <a:p>
            <a:pPr>
              <a:defRPr lang="en-US" sz="3150" b="1">
                <a:solidFill>
                  <a:srgbClr val="FFFFFF"/>
                </a:solidFill>
                <a:latin typeface="Arial"/>
                <a:ea typeface="Arial"/>
                <a:cs typeface="Arial"/>
              </a:defRPr>
            </a:pPr>
            <a:r>
              <a:rPr lang="en-US" sz="3150" b="1" dirty="0">
                <a:solidFill>
                  <a:srgbClr val="FFFFFF"/>
                </a:solidFill>
                <a:latin typeface="Arial"/>
                <a:ea typeface="Arial"/>
                <a:cs typeface="Arial"/>
              </a:rPr>
              <a:t>and launch 10M SAR for the first phase</a:t>
            </a:r>
          </a:p>
        </p:txBody>
      </p:sp>
      <p:sp>
        <p:nvSpPr>
          <p:cNvPr id="6" name="Rectangle 5">
            <a:extLst>
              <a:ext uri="{FF2B5EF4-FFF2-40B4-BE49-F238E27FC236}">
                <a16:creationId xmlns:a16="http://schemas.microsoft.com/office/drawing/2014/main" id="{9F8FD1B6-CBDF-4846-8DFD-F5915A74696E}"/>
              </a:ext>
            </a:extLst>
          </p:cNvPr>
          <p:cNvSpPr>
            <a:spLocks noGrp="1"/>
          </p:cNvSpPr>
          <p:nvPr/>
        </p:nvSpPr>
        <p:spPr>
          <a:xfrm>
            <a:off x="609600" y="3829050"/>
            <a:ext cx="5048250" cy="476250"/>
          </a:xfrm>
          <a:prstGeom prst="rect">
            <a:avLst/>
          </a:prstGeom>
          <a:noFill/>
          <a:ln w="0">
            <a:noFill/>
          </a:ln>
        </p:spPr>
        <p:txBody>
          <a:bodyPr wrap="square" lIns="0" tIns="0" rIns="0" bIns="0" anchor="t">
            <a:noAutofit/>
          </a:bodyPr>
          <a:lstStyle/>
          <a:p>
            <a:pPr algn="l" rtl="0">
              <a:defRPr lang="en-US" sz="2400" b="1">
                <a:solidFill>
                  <a:srgbClr val="6BBF8E"/>
                </a:solidFill>
                <a:latin typeface="Arial"/>
                <a:ea typeface="Arial"/>
                <a:cs typeface="Arial"/>
              </a:defRPr>
            </a:pPr>
            <a:r>
              <a:rPr lang="en-US" sz="2400" b="1">
                <a:solidFill>
                  <a:srgbClr val="6BBF8E"/>
                </a:solidFill>
                <a:latin typeface="Arial"/>
                <a:ea typeface="Arial"/>
                <a:cs typeface="Arial"/>
              </a:rPr>
              <a:t>Within 30 days</a:t>
            </a:r>
          </a:p>
        </p:txBody>
      </p:sp>
      <p:sp>
        <p:nvSpPr>
          <p:cNvPr id="7" name="Rectangle 6">
            <a:extLst>
              <a:ext uri="{FF2B5EF4-FFF2-40B4-BE49-F238E27FC236}">
                <a16:creationId xmlns:a16="http://schemas.microsoft.com/office/drawing/2014/main" id="{EBDB966B-D5CD-4F12-B9F4-10A7E6C5E3CF}"/>
              </a:ext>
            </a:extLst>
          </p:cNvPr>
          <p:cNvSpPr>
            <a:spLocks noGrp="1"/>
          </p:cNvSpPr>
          <p:nvPr/>
        </p:nvSpPr>
        <p:spPr>
          <a:xfrm>
            <a:off x="609600" y="4429125"/>
            <a:ext cx="5048250" cy="1047750"/>
          </a:xfrm>
          <a:prstGeom prst="rect">
            <a:avLst/>
          </a:prstGeom>
          <a:noFill/>
          <a:ln w="0">
            <a:noFill/>
          </a:ln>
        </p:spPr>
        <p:txBody>
          <a:bodyPr wrap="square" lIns="0" tIns="0" rIns="0" bIns="0" anchor="t">
            <a:noAutofit/>
          </a:bodyPr>
          <a:lstStyle/>
          <a:p>
            <a:pPr algn="l" rtl="0">
              <a:defRPr lang="en-US" sz="2025" b="0">
                <a:solidFill>
                  <a:srgbClr val="FFFFFF"/>
                </a:solidFill>
                <a:latin typeface="Arial"/>
                <a:ea typeface="Arial"/>
                <a:cs typeface="Arial"/>
              </a:defRPr>
            </a:pPr>
            <a:r>
              <a:rPr lang="en-US" sz="2025" b="0">
                <a:solidFill>
                  <a:srgbClr val="FFFFFF"/>
                </a:solidFill>
                <a:latin typeface="Arial"/>
                <a:ea typeface="Arial"/>
                <a:cs typeface="Arial"/>
              </a:rPr>
              <a:t>Programme team verifies the baseline</a:t>
            </a:r>
          </a:p>
          <a:p>
            <a:pPr algn="l" rtl="0">
              <a:defRPr lang="en-US" sz="2025" b="0">
                <a:solidFill>
                  <a:srgbClr val="FFFFFF"/>
                </a:solidFill>
                <a:latin typeface="Arial"/>
                <a:ea typeface="Arial"/>
                <a:cs typeface="Arial"/>
              </a:defRPr>
            </a:pPr>
            <a:r>
              <a:rPr lang="en-US" sz="2025" b="0">
                <a:solidFill>
                  <a:srgbClr val="FFFFFF"/>
                </a:solidFill>
                <a:latin typeface="Arial"/>
                <a:ea typeface="Arial"/>
                <a:cs typeface="Arial"/>
              </a:rPr>
              <a:t>and identifies barriers and intervention costs</a:t>
            </a:r>
          </a:p>
        </p:txBody>
      </p:sp>
      <p:sp>
        <p:nvSpPr>
          <p:cNvPr id="8" name="Rectangle 7">
            <a:extLst>
              <a:ext uri="{FF2B5EF4-FFF2-40B4-BE49-F238E27FC236}">
                <a16:creationId xmlns:a16="http://schemas.microsoft.com/office/drawing/2014/main" id="{F4977CD7-CDCB-4894-B0C0-2A0F6E5EBFF2}"/>
              </a:ext>
            </a:extLst>
          </p:cNvPr>
          <p:cNvSpPr>
            <a:spLocks noGrp="1"/>
          </p:cNvSpPr>
          <p:nvPr/>
        </p:nvSpPr>
        <p:spPr>
          <a:xfrm>
            <a:off x="6534150" y="3829050"/>
            <a:ext cx="5143500" cy="476250"/>
          </a:xfrm>
          <a:prstGeom prst="rect">
            <a:avLst/>
          </a:prstGeom>
          <a:noFill/>
          <a:ln w="0">
            <a:noFill/>
          </a:ln>
        </p:spPr>
        <p:txBody>
          <a:bodyPr wrap="square" lIns="0" tIns="0" rIns="0" bIns="0" anchor="t">
            <a:noAutofit/>
          </a:bodyPr>
          <a:lstStyle/>
          <a:p>
            <a:pPr algn="l" rtl="0">
              <a:defRPr lang="en-US" sz="2400" b="1">
                <a:solidFill>
                  <a:srgbClr val="6BBF8E"/>
                </a:solidFill>
                <a:latin typeface="Arial"/>
                <a:ea typeface="Arial"/>
                <a:cs typeface="Arial"/>
              </a:defRPr>
            </a:pPr>
            <a:r>
              <a:rPr lang="en-US" sz="2400" b="1">
                <a:solidFill>
                  <a:srgbClr val="6BBF8E"/>
                </a:solidFill>
                <a:latin typeface="Arial"/>
                <a:ea typeface="Arial"/>
                <a:cs typeface="Arial"/>
              </a:rPr>
              <a:t>After 90 days</a:t>
            </a:r>
          </a:p>
        </p:txBody>
      </p:sp>
      <p:sp>
        <p:nvSpPr>
          <p:cNvPr id="9" name="Rectangle 8">
            <a:extLst>
              <a:ext uri="{FF2B5EF4-FFF2-40B4-BE49-F238E27FC236}">
                <a16:creationId xmlns:a16="http://schemas.microsoft.com/office/drawing/2014/main" id="{E951E8B7-75C0-4BF1-AADC-3650D4C86A93}"/>
              </a:ext>
            </a:extLst>
          </p:cNvPr>
          <p:cNvSpPr>
            <a:spLocks noGrp="1"/>
          </p:cNvSpPr>
          <p:nvPr/>
        </p:nvSpPr>
        <p:spPr>
          <a:xfrm>
            <a:off x="6534150" y="4429125"/>
            <a:ext cx="5143500" cy="1047750"/>
          </a:xfrm>
          <a:prstGeom prst="rect">
            <a:avLst/>
          </a:prstGeom>
          <a:noFill/>
          <a:ln w="0">
            <a:noFill/>
          </a:ln>
        </p:spPr>
        <p:txBody>
          <a:bodyPr wrap="square" lIns="0" tIns="0" rIns="0" bIns="0" anchor="t">
            <a:noAutofit/>
          </a:bodyPr>
          <a:lstStyle/>
          <a:p>
            <a:pPr algn="l" rtl="0">
              <a:defRPr lang="en-US" sz="2025" b="0">
                <a:solidFill>
                  <a:srgbClr val="FFFFFF"/>
                </a:solidFill>
                <a:latin typeface="Arial"/>
                <a:ea typeface="Arial"/>
                <a:cs typeface="Arial"/>
              </a:defRPr>
            </a:pPr>
            <a:r>
              <a:rPr lang="en-US" sz="2025" b="0">
                <a:solidFill>
                  <a:srgbClr val="FFFFFF"/>
                </a:solidFill>
                <a:latin typeface="Arial"/>
                <a:ea typeface="Arial"/>
                <a:cs typeface="Arial"/>
              </a:rPr>
              <a:t>Committee reviews adoption, improvement costs</a:t>
            </a:r>
          </a:p>
          <a:p>
            <a:pPr algn="l" rtl="0">
              <a:defRPr lang="en-US" sz="2025" b="0">
                <a:solidFill>
                  <a:srgbClr val="FFFFFF"/>
                </a:solidFill>
                <a:latin typeface="Arial"/>
                <a:ea typeface="Arial"/>
                <a:cs typeface="Arial"/>
              </a:defRPr>
            </a:pPr>
            <a:r>
              <a:rPr lang="en-US" sz="2025" b="0">
                <a:solidFill>
                  <a:srgbClr val="FFFFFF"/>
                </a:solidFill>
                <a:latin typeface="Arial"/>
                <a:ea typeface="Arial"/>
                <a:cs typeface="Arial"/>
              </a:rPr>
              <a:t>and comparisons before releasing SAR 30M</a:t>
            </a:r>
          </a:p>
        </p:txBody>
      </p:sp>
      <p:sp>
        <p:nvSpPr>
          <p:cNvPr id="10" name="Rectangle 9">
            <a:extLst>
              <a:ext uri="{FF2B5EF4-FFF2-40B4-BE49-F238E27FC236}">
                <a16:creationId xmlns:a16="http://schemas.microsoft.com/office/drawing/2014/main" id="{EF2F8650-E5C0-4F89-96DF-E0F7DAC9FC31}"/>
              </a:ext>
            </a:extLst>
          </p:cNvPr>
          <p:cNvSpPr>
            <a:spLocks noGrp="1"/>
          </p:cNvSpPr>
          <p:nvPr/>
        </p:nvSpPr>
        <p:spPr>
          <a:xfrm>
            <a:off x="609600" y="5724525"/>
            <a:ext cx="10972800" cy="400050"/>
          </a:xfrm>
          <a:prstGeom prst="rect">
            <a:avLst/>
          </a:prstGeom>
          <a:noFill/>
          <a:ln w="0">
            <a:noFill/>
          </a:ln>
        </p:spPr>
        <p:txBody>
          <a:bodyPr wrap="square" lIns="0" tIns="0" rIns="0" bIns="0" anchor="t">
            <a:noAutofit/>
          </a:bodyPr>
          <a:lstStyle/>
          <a:p>
            <a:pPr algn="l" rtl="0">
              <a:defRPr lang="en-US" sz="2025" b="0">
                <a:solidFill>
                  <a:srgbClr val="FFFFFF"/>
                </a:solidFill>
                <a:latin typeface="Arial"/>
                <a:ea typeface="Arial"/>
                <a:cs typeface="Arial"/>
              </a:defRPr>
            </a:pPr>
            <a:r>
              <a:rPr lang="en-US" sz="2025" b="0">
                <a:solidFill>
                  <a:srgbClr val="FFFFFF"/>
                </a:solidFill>
                <a:latin typeface="Arial"/>
                <a:ea typeface="Arial"/>
                <a:cs typeface="Arial"/>
              </a:rPr>
              <a:t>Prioritize Najran, Northern Borders and Al-Baha; fund all eight regions</a:t>
            </a:r>
          </a:p>
        </p:txBody>
      </p:sp>
    </p:spTree>
    <p:extLst>
      <p:ext uri="{BB962C8B-B14F-4D97-AF65-F5344CB8AC3E}">
        <p14:creationId xmlns:p14="http://schemas.microsoft.com/office/powerpoint/2010/main" val="18095431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2131</Words>
  <Application>Microsoft Office PowerPoint</Application>
  <DocSecurity>0</DocSecurity>
  <PresentationFormat>Widescreen</PresentationFormat>
  <Paragraphs>157</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Raneem k</cp:lastModifiedBy>
  <cp:revision>3</cp:revision>
  <dcterms:created xsi:type="dcterms:W3CDTF">2026-10-06T13:04:52Z</dcterms:created>
  <dcterms:modified xsi:type="dcterms:W3CDTF">2026-10-06T17:12:53Z</dcterms:modified>
</cp:coreProperties>
</file>